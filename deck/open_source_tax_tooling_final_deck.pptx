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eer Nagar" userId="d64f28192ec01026" providerId="LiveId" clId="{769B4E8D-3696-46BC-B48F-1A847AD9FE28}"/>
    <pc:docChg chg="custSel modSld">
      <pc:chgData name="Sameer Nagar" userId="d64f28192ec01026" providerId="LiveId" clId="{769B4E8D-3696-46BC-B48F-1A847AD9FE28}" dt="2026-07-22T03:32:21.385" v="11" actId="1076"/>
      <pc:docMkLst>
        <pc:docMk/>
      </pc:docMkLst>
      <pc:sldChg chg="modSp mod">
        <pc:chgData name="Sameer Nagar" userId="d64f28192ec01026" providerId="LiveId" clId="{769B4E8D-3696-46BC-B48F-1A847AD9FE28}" dt="2026-07-22T03:28:33.389" v="0" actId="1076"/>
        <pc:sldMkLst>
          <pc:docMk/>
          <pc:sldMk cId="862894173" sldId="260"/>
        </pc:sldMkLst>
        <pc:spChg chg="mod">
          <ac:chgData name="Sameer Nagar" userId="d64f28192ec01026" providerId="LiveId" clId="{769B4E8D-3696-46BC-B48F-1A847AD9FE28}" dt="2026-07-22T03:28:33.389" v="0" actId="1076"/>
          <ac:spMkLst>
            <pc:docMk/>
            <pc:sldMk cId="862894173" sldId="260"/>
            <ac:spMk id="2" creationId="{0CBA6646-418D-47F0-B04D-C9D92F89CF42}"/>
          </ac:spMkLst>
        </pc:spChg>
      </pc:sldChg>
      <pc:sldChg chg="modSp mod">
        <pc:chgData name="Sameer Nagar" userId="d64f28192ec01026" providerId="LiveId" clId="{769B4E8D-3696-46BC-B48F-1A847AD9FE28}" dt="2026-07-22T03:31:17.876" v="1" actId="1076"/>
        <pc:sldMkLst>
          <pc:docMk/>
          <pc:sldMk cId="1852734991" sldId="270"/>
        </pc:sldMkLst>
        <pc:spChg chg="mod">
          <ac:chgData name="Sameer Nagar" userId="d64f28192ec01026" providerId="LiveId" clId="{769B4E8D-3696-46BC-B48F-1A847AD9FE28}" dt="2026-07-22T03:31:17.876" v="1" actId="1076"/>
          <ac:spMkLst>
            <pc:docMk/>
            <pc:sldMk cId="1852734991" sldId="270"/>
            <ac:spMk id="2" creationId="{A35DC4FC-2E67-4637-B2E0-299669CEEAED}"/>
          </ac:spMkLst>
        </pc:spChg>
      </pc:sldChg>
      <pc:sldChg chg="modSp mod">
        <pc:chgData name="Sameer Nagar" userId="d64f28192ec01026" providerId="LiveId" clId="{769B4E8D-3696-46BC-B48F-1A847AD9FE28}" dt="2026-07-22T03:32:21.385" v="11" actId="1076"/>
        <pc:sldMkLst>
          <pc:docMk/>
          <pc:sldMk cId="1577085095" sldId="271"/>
        </pc:sldMkLst>
        <pc:spChg chg="mod">
          <ac:chgData name="Sameer Nagar" userId="d64f28192ec01026" providerId="LiveId" clId="{769B4E8D-3696-46BC-B48F-1A847AD9FE28}" dt="2026-07-22T03:31:39.052" v="2" actId="1076"/>
          <ac:spMkLst>
            <pc:docMk/>
            <pc:sldMk cId="1577085095" sldId="271"/>
            <ac:spMk id="2" creationId="{C40C7B75-594B-401F-BC5B-5B65A746B0C3}"/>
          </ac:spMkLst>
        </pc:spChg>
        <pc:spChg chg="mod">
          <ac:chgData name="Sameer Nagar" userId="d64f28192ec01026" providerId="LiveId" clId="{769B4E8D-3696-46BC-B48F-1A847AD9FE28}" dt="2026-07-22T03:32:03.682" v="6" actId="1076"/>
          <ac:spMkLst>
            <pc:docMk/>
            <pc:sldMk cId="1577085095" sldId="271"/>
            <ac:spMk id="8" creationId="{B7FE23C6-3B94-4CFE-8F31-49D4885EF9BD}"/>
          </ac:spMkLst>
        </pc:spChg>
        <pc:spChg chg="mod">
          <ac:chgData name="Sameer Nagar" userId="d64f28192ec01026" providerId="LiveId" clId="{769B4E8D-3696-46BC-B48F-1A847AD9FE28}" dt="2026-07-22T03:32:13.052" v="8" actId="1076"/>
          <ac:spMkLst>
            <pc:docMk/>
            <pc:sldMk cId="1577085095" sldId="271"/>
            <ac:spMk id="10" creationId="{1EC9EE67-1B7B-459F-9D21-103F1C02500A}"/>
          </ac:spMkLst>
        </pc:spChg>
        <pc:spChg chg="mod">
          <ac:chgData name="Sameer Nagar" userId="d64f28192ec01026" providerId="LiveId" clId="{769B4E8D-3696-46BC-B48F-1A847AD9FE28}" dt="2026-07-22T03:32:21.385" v="11" actId="1076"/>
          <ac:spMkLst>
            <pc:docMk/>
            <pc:sldMk cId="1577085095" sldId="271"/>
            <ac:spMk id="14" creationId="{ACE91769-A57C-41DB-8880-9F60F6C9C49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Audience: mentor, reviewer, or portfolio viewer who understands software integration but may not know the tax-tooling ecosystem.</a:t>
            </a:r>
          </a:p>
          <a:p>
            <a:r>
              <a:t>Communication job: by the end, the audience should understand why the project recommends a guarded bookkeeping fact layer because the evaluated tools solve different parts of the chain.</a:t>
            </a:r>
          </a:p>
          <a:p>
            <a:r>
              <a:t>Sources: README.md, report/full_report_draft.md, deck/outline.md.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separate tooling research from tax-prep product claims.</a:t>
            </a:r>
          </a:p>
          <a:p>
            <a:r>
              <a:t>Sources: README.md, codex_execution_plan_ai_tax_tooling.md.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this boundary explicit early; later prototype claims depend on it.</a:t>
            </a:r>
          </a:p>
          <a:p>
            <a:r>
              <a:t>Sources: report/full_report_draft.md, prototype/README.md.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 from question to evidence method.</a:t>
            </a:r>
          </a:p>
          <a:p>
            <a:r>
              <a:t>Sources: research/longlist.md, research/project_health_snapshot.md, research/programmatic_surface_survey.md, research/shortlist.md, research/evaluation_checklist.md.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comparing tools by layer is more useful than ranking by popularity.</a:t>
            </a:r>
          </a:p>
          <a:p>
            <a:r>
              <a:t>Sources: report/full_report_draft.md, research/programmatic_surface_survey.md.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each tool as a representative role.</a:t>
            </a:r>
          </a:p>
          <a:p>
            <a:r>
              <a:t>Sources: research/shortlist.md, tool_records/tool_1.md through tool_records/tool_5.md.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numbers to make the demo output feel grounded.</a:t>
            </a:r>
          </a:p>
          <a:p>
            <a:r>
              <a:t>Sources: evidence/synthetic_dataset.md, evidence/fixtures/synthetic_freelancer_transactions.csv.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Bookkeeping tools are the strongest place to start the integration.</a:t>
            </a:r>
          </a:p>
          <a:p>
            <a:r>
              <a:t>Sources: tool_records/tool_1.md, tool_records/tool_2.md, tool_records/tool_3.md, research/comparison_matrix.md.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sets up the architecture answer: do not start with a form engine as the first integration layer.</a:t>
            </a:r>
          </a:p>
          <a:p>
            <a:r>
              <a:t>Sources: tool_records/tool_4.md, tool_records/tool_5.md, report/full_report_draft.md.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report's main finding plainly.</a:t>
            </a:r>
          </a:p>
          <a:p>
            <a:r>
              <a:t>Sources: report/full_report_draft.md, research/comparison_matrix.md.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scan-friendly comparison slide before the prototype.</a:t>
            </a:r>
          </a:p>
          <a:p>
            <a:r>
              <a:t>Sources: report/full_report_draft.md, report/comparison_recommendation_draft.md.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as the pivot into the demo.</a:t>
            </a:r>
          </a:p>
          <a:p>
            <a:r>
              <a:t>Sources: prototype/design.md, prototype/README.md, report/prototype_writeup_draft.md.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the architecture before showing output.</a:t>
            </a:r>
          </a:p>
          <a:p>
            <a:r>
              <a:t>Sources: prototype/design.md, prototype/hledger_adapter/, prototype/execution_lab/.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Preferred demo: run `python run_day20_demo.py --json` locally. UI alternative: prototype/execution_lab/ with /api/run. Fallback: verified replay from evidence/commands.</a:t>
            </a:r>
          </a:p>
          <a:p>
            <a:r>
              <a:t>Sources: run_day20_demo.py, prototype/execution_lab/, evidence/commands/07-13-2026_hledger-adapter_day18_summary.txt, evidence/commands/07-13-2026_hledger-adapter_day19_failures.txt.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values come from the Day 29 local run of `python run_day20_demo.py --json`.</a:t>
            </a:r>
          </a:p>
          <a:p>
            <a:r>
              <a:t>Sources: prototype/run_day20_demo.py, prototype/tests/run_failure_matrix.py, report/full_report_draft.md.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final recommendation slide.</a:t>
            </a:r>
          </a:p>
          <a:p>
            <a:r>
              <a:t>Sources: report/full_report_draft.md, research/prototype_target_decision.md.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show the project is honest about residual risk.</a:t>
            </a:r>
          </a:p>
          <a:p>
            <a:r>
              <a:t>Sources: report/full_report_draft.md, prototype/retrospective.md.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resolving the opening question: useful integration exists, but the safe architectural unit is the fact layer.</a:t>
            </a:r>
          </a:p>
          <a:p>
            <a:r>
              <a:t>Sources: report/full_report_draft.md, prototype/README.md.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DF99532-F73C-4A49-B2D1-087F6E9B1079}"/>
              </a:ext>
            </a:extLst>
          </p:cNvPr>
          <p:cNvSpPr>
            <a:spLocks noGrp="1"/>
          </p:cNvSpPr>
          <p:nvPr/>
        </p:nvSpPr>
        <p:spPr>
          <a:xfrm>
            <a:off x="400050" y="762000"/>
            <a:ext cx="8667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5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Open-source tax tooling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BE6453-0CFC-4384-A899-C2E357518906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876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4050" b="0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What can actually be integrated?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0856AB-775A-4F1A-9D99-E1316556CDC4}"/>
              </a:ext>
            </a:extLst>
          </p:cNvPr>
          <p:cNvSpPr>
            <a:spLocks noGrp="1"/>
          </p:cNvSpPr>
          <p:nvPr/>
        </p:nvSpPr>
        <p:spPr>
          <a:xfrm>
            <a:off x="400050" y="4267200"/>
            <a:ext cx="4953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July 2026 AI engineering internship project on consumer tax-adjacent tools, synthetic data, and programmatic surfaces.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2C2EC7-1DE0-4BCF-95AF-9A035B5E1A1C}"/>
              </a:ext>
            </a:extLst>
          </p:cNvPr>
          <p:cNvSpPr>
            <a:spLocks noGrp="1"/>
          </p:cNvSpPr>
          <p:nvPr/>
        </p:nvSpPr>
        <p:spPr>
          <a:xfrm>
            <a:off x="5924550" y="4000500"/>
            <a:ext cx="1727200" cy="1238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605E6B-3AEE-4CFE-842C-9D86528316A8}"/>
              </a:ext>
            </a:extLst>
          </p:cNvPr>
          <p:cNvSpPr>
            <a:spLocks noGrp="1"/>
          </p:cNvSpPr>
          <p:nvPr/>
        </p:nvSpPr>
        <p:spPr>
          <a:xfrm>
            <a:off x="6057900" y="4171950"/>
            <a:ext cx="146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Records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A30929-8B02-4D0E-BC71-2B350CB8215C}"/>
              </a:ext>
            </a:extLst>
          </p:cNvPr>
          <p:cNvSpPr>
            <a:spLocks noGrp="1"/>
          </p:cNvSpPr>
          <p:nvPr/>
        </p:nvSpPr>
        <p:spPr>
          <a:xfrm>
            <a:off x="6057900" y="4629150"/>
            <a:ext cx="146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Bookkeeping and personal finance inputs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63453F53-267C-4405-AF68-95D7943DEACF}"/>
              </a:ext>
            </a:extLst>
          </p:cNvPr>
          <p:cNvSpPr>
            <a:spLocks noGrp="1"/>
          </p:cNvSpPr>
          <p:nvPr/>
        </p:nvSpPr>
        <p:spPr>
          <a:xfrm>
            <a:off x="7670800" y="4619625"/>
            <a:ext cx="1143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E43FBA-712C-47B9-BA49-FD7DE65892A7}"/>
              </a:ext>
            </a:extLst>
          </p:cNvPr>
          <p:cNvSpPr>
            <a:spLocks noGrp="1"/>
          </p:cNvSpPr>
          <p:nvPr/>
        </p:nvSpPr>
        <p:spPr>
          <a:xfrm>
            <a:off x="7804150" y="4000500"/>
            <a:ext cx="1727200" cy="1238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8496A-4934-45E6-9DE9-0FEB3277FDA9}"/>
              </a:ext>
            </a:extLst>
          </p:cNvPr>
          <p:cNvSpPr>
            <a:spLocks noGrp="1"/>
          </p:cNvSpPr>
          <p:nvPr/>
        </p:nvSpPr>
        <p:spPr>
          <a:xfrm>
            <a:off x="7937500" y="4171950"/>
            <a:ext cx="146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Facts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DE9C2F-3E8E-4A74-A113-2E2C01C0F237}"/>
              </a:ext>
            </a:extLst>
          </p:cNvPr>
          <p:cNvSpPr>
            <a:spLocks noGrp="1"/>
          </p:cNvSpPr>
          <p:nvPr/>
        </p:nvSpPr>
        <p:spPr>
          <a:xfrm>
            <a:off x="7937500" y="4629150"/>
            <a:ext cx="146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Validated summaries with provenance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051F5EB1-2B05-45CC-8C2E-2D734B9AC86A}"/>
              </a:ext>
            </a:extLst>
          </p:cNvPr>
          <p:cNvSpPr>
            <a:spLocks noGrp="1"/>
          </p:cNvSpPr>
          <p:nvPr/>
        </p:nvSpPr>
        <p:spPr>
          <a:xfrm>
            <a:off x="9550400" y="4619625"/>
            <a:ext cx="1143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0D0CBA-FCD1-473F-8400-3A515D2357DA}"/>
              </a:ext>
            </a:extLst>
          </p:cNvPr>
          <p:cNvSpPr>
            <a:spLocks noGrp="1"/>
          </p:cNvSpPr>
          <p:nvPr/>
        </p:nvSpPr>
        <p:spPr>
          <a:xfrm>
            <a:off x="9683750" y="4000500"/>
            <a:ext cx="1727200" cy="123825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D18847-A2BC-4997-B37F-E6C9A0E63F36}"/>
              </a:ext>
            </a:extLst>
          </p:cNvPr>
          <p:cNvSpPr>
            <a:spLocks noGrp="1"/>
          </p:cNvSpPr>
          <p:nvPr/>
        </p:nvSpPr>
        <p:spPr>
          <a:xfrm>
            <a:off x="9817100" y="4171950"/>
            <a:ext cx="146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Tax-aware tools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3B77BB-6F0C-4DD2-A599-0374EB91CFA9}"/>
              </a:ext>
            </a:extLst>
          </p:cNvPr>
          <p:cNvSpPr>
            <a:spLocks noGrp="1"/>
          </p:cNvSpPr>
          <p:nvPr/>
        </p:nvSpPr>
        <p:spPr>
          <a:xfrm>
            <a:off x="9817100" y="4629150"/>
            <a:ext cx="146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Later calculation or form experiments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1113D0-BF11-4F7E-80C2-EAA6F89199B4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2428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762814C-6C5F-4DF6-BD6C-842C9425CB9F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question is not whether tools exist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92B05B-8ACE-4E79-813D-AF8C5BF65DC8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useful question is which ones can be safely driven from code.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027856-CF76-4129-BC41-7126B69A387D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FDD321-59E9-490E-BABA-A8B1097435A1}"/>
              </a:ext>
            </a:extLst>
          </p:cNvPr>
          <p:cNvSpPr>
            <a:spLocks noGrp="1"/>
          </p:cNvSpPr>
          <p:nvPr/>
        </p:nvSpPr>
        <p:spPr>
          <a:xfrm>
            <a:off x="400050" y="2238375"/>
            <a:ext cx="3429000" cy="1809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31AD41-0375-4D03-B149-30FFE825DC04}"/>
              </a:ext>
            </a:extLst>
          </p:cNvPr>
          <p:cNvSpPr>
            <a:spLocks noGrp="1"/>
          </p:cNvSpPr>
          <p:nvPr/>
        </p:nvSpPr>
        <p:spPr>
          <a:xfrm>
            <a:off x="609600" y="2409825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Ecosystem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D6A268-CDC7-4DF0-9883-9673E58E1C4A}"/>
              </a:ext>
            </a:extLst>
          </p:cNvPr>
          <p:cNvSpPr>
            <a:spLocks noGrp="1"/>
          </p:cNvSpPr>
          <p:nvPr/>
        </p:nvSpPr>
        <p:spPr>
          <a:xfrm>
            <a:off x="609600" y="2790825"/>
            <a:ext cx="3009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What open-source tools exist for consumer or freelancer tax-adjacent work?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DEC0D8-1BC5-460D-A067-D9E5727EE1FC}"/>
              </a:ext>
            </a:extLst>
          </p:cNvPr>
          <p:cNvSpPr>
            <a:spLocks noGrp="1"/>
          </p:cNvSpPr>
          <p:nvPr/>
        </p:nvSpPr>
        <p:spPr>
          <a:xfrm>
            <a:off x="4381500" y="2238375"/>
            <a:ext cx="3429000" cy="1809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86DB4E-D494-4C1B-9DDC-D637AF17C15A}"/>
              </a:ext>
            </a:extLst>
          </p:cNvPr>
          <p:cNvSpPr>
            <a:spLocks noGrp="1"/>
          </p:cNvSpPr>
          <p:nvPr/>
        </p:nvSpPr>
        <p:spPr>
          <a:xfrm>
            <a:off x="4591050" y="2409825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Surface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6D03D2-E812-4B53-AABF-8D77AE659B12}"/>
              </a:ext>
            </a:extLst>
          </p:cNvPr>
          <p:cNvSpPr>
            <a:spLocks noGrp="1"/>
          </p:cNvSpPr>
          <p:nvPr/>
        </p:nvSpPr>
        <p:spPr>
          <a:xfrm>
            <a:off x="4591050" y="2790825"/>
            <a:ext cx="3009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Can a tool be reached through a CLI, API, REST endpoint, file format, schema, library, or export?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4BB63C-8D59-4D52-AC7D-6B68A34FD80C}"/>
              </a:ext>
            </a:extLst>
          </p:cNvPr>
          <p:cNvSpPr>
            <a:spLocks noGrp="1"/>
          </p:cNvSpPr>
          <p:nvPr/>
        </p:nvSpPr>
        <p:spPr>
          <a:xfrm>
            <a:off x="8362950" y="2238375"/>
            <a:ext cx="3429000" cy="180975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E33F0F-2154-4DE2-9F62-50809B2CDA00}"/>
              </a:ext>
            </a:extLst>
          </p:cNvPr>
          <p:cNvSpPr>
            <a:spLocks noGrp="1"/>
          </p:cNvSpPr>
          <p:nvPr/>
        </p:nvSpPr>
        <p:spPr>
          <a:xfrm>
            <a:off x="8362950" y="2238375"/>
            <a:ext cx="76200" cy="18097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340BFF-B7D2-4CC1-924F-6A734320AFF9}"/>
              </a:ext>
            </a:extLst>
          </p:cNvPr>
          <p:cNvSpPr>
            <a:spLocks noGrp="1"/>
          </p:cNvSpPr>
          <p:nvPr/>
        </p:nvSpPr>
        <p:spPr>
          <a:xfrm>
            <a:off x="8572500" y="2409825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30B89A-6C0C-4F1A-8CE1-6F7B28FB9A34}"/>
              </a:ext>
            </a:extLst>
          </p:cNvPr>
          <p:cNvSpPr>
            <a:spLocks noGrp="1"/>
          </p:cNvSpPr>
          <p:nvPr/>
        </p:nvSpPr>
        <p:spPr>
          <a:xfrm>
            <a:off x="8572500" y="2790825"/>
            <a:ext cx="3009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What can be automated without pretending to prepare, validate, or file a tax return?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2EE71A-16CB-4878-9D37-A8CB21D85452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933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project studies integration feasibility, not production tax preparation.</a:t>
            </a:r>
          </a:p>
        </p:txBody>
      </p:sp>
    </p:spTree>
    <p:extLst>
      <p:ext uri="{BB962C8B-B14F-4D97-AF65-F5344CB8AC3E}">
        <p14:creationId xmlns:p14="http://schemas.microsoft.com/office/powerpoint/2010/main" val="895279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E8E05E3-23AA-4DE3-885B-FD124945268C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safety boundary shapes every decision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C3DFE4-62B2-40DE-812A-3D0BBA650661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repository is synthetic-only and the prototype avoids filing claims.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FF60DF-C95B-47E7-A26D-5FF78318841D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5C277-7402-40E6-8758-5515A0298C9B}"/>
              </a:ext>
            </a:extLst>
          </p:cNvPr>
          <p:cNvSpPr>
            <a:spLocks noGrp="1"/>
          </p:cNvSpPr>
          <p:nvPr/>
        </p:nvSpPr>
        <p:spPr>
          <a:xfrm>
            <a:off x="400050" y="21336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 SCOPE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9D7B4B-4295-4F94-B4C5-038B418CD796}"/>
              </a:ext>
            </a:extLst>
          </p:cNvPr>
          <p:cNvSpPr>
            <a:spLocks noGrp="1"/>
          </p:cNvSpPr>
          <p:nvPr/>
        </p:nvSpPr>
        <p:spPr>
          <a:xfrm>
            <a:off x="6305550" y="21336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OUT OF 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A40BD-37AC-49DB-8193-B1C3FD5489E4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4953000" cy="171450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D47101-A322-4B55-A71A-9132A0BBE4BF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76200" cy="17145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C2CC25-BBBA-425B-BE50-07ABA002E52B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Synthetic records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54C2D4-CF85-4FBA-BE68-022779A1337C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45339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Fictional 2025 freelancer transactions, category mappings, command evidence, and normalized summaries.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ABDB0D-DB81-4499-9E4F-D80AB20E94F5}"/>
              </a:ext>
            </a:extLst>
          </p:cNvPr>
          <p:cNvSpPr>
            <a:spLocks noGrp="1"/>
          </p:cNvSpPr>
          <p:nvPr/>
        </p:nvSpPr>
        <p:spPr>
          <a:xfrm>
            <a:off x="400050" y="4438650"/>
            <a:ext cx="4953000" cy="1333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9CAB80-EEFA-4E99-A35D-3BFFDAACBABF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Reviewer workflow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FAB496-331C-4E00-B4C1-2BC86997B4AD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4533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Run or replay the adapter, inspect evidence, and see how facts move through validation.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D4B269-1DB4-4C0C-8F8C-3792E74FF0D9}"/>
              </a:ext>
            </a:extLst>
          </p:cNvPr>
          <p:cNvSpPr>
            <a:spLocks noGrp="1"/>
          </p:cNvSpPr>
          <p:nvPr/>
        </p:nvSpPr>
        <p:spPr>
          <a:xfrm>
            <a:off x="6305550" y="2476500"/>
            <a:ext cx="4953000" cy="1714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123FC1-C20B-42B5-8BB3-8C2A88B74240}"/>
              </a:ext>
            </a:extLst>
          </p:cNvPr>
          <p:cNvSpPr>
            <a:spLocks noGrp="1"/>
          </p:cNvSpPr>
          <p:nvPr/>
        </p:nvSpPr>
        <p:spPr>
          <a:xfrm>
            <a:off x="6515100" y="264795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Tax preparation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0B0C7A-A4AC-455E-B56C-00EADF3AFE9C}"/>
              </a:ext>
            </a:extLst>
          </p:cNvPr>
          <p:cNvSpPr>
            <a:spLocks noGrp="1"/>
          </p:cNvSpPr>
          <p:nvPr/>
        </p:nvSpPr>
        <p:spPr>
          <a:xfrm>
            <a:off x="6515100" y="3028950"/>
            <a:ext cx="45339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No liability calculation, return validation, Form 1040 generation, PDF output, MeF readiness, or e-file submission.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16164-2608-48AA-9176-74AC0661713D}"/>
              </a:ext>
            </a:extLst>
          </p:cNvPr>
          <p:cNvSpPr>
            <a:spLocks noGrp="1"/>
          </p:cNvSpPr>
          <p:nvPr/>
        </p:nvSpPr>
        <p:spPr>
          <a:xfrm>
            <a:off x="6305550" y="4438650"/>
            <a:ext cx="4953000" cy="1333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84EA91-C208-4145-8A3B-238375C77F08}"/>
              </a:ext>
            </a:extLst>
          </p:cNvPr>
          <p:cNvSpPr>
            <a:spLocks noGrp="1"/>
          </p:cNvSpPr>
          <p:nvPr/>
        </p:nvSpPr>
        <p:spPr>
          <a:xfrm>
            <a:off x="6515100" y="461010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Real taxpayer automation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7269DF-4F73-4A78-B2C9-30889ABE23EB}"/>
              </a:ext>
            </a:extLst>
          </p:cNvPr>
          <p:cNvSpPr>
            <a:spLocks noGrp="1"/>
          </p:cNvSpPr>
          <p:nvPr/>
        </p:nvSpPr>
        <p:spPr>
          <a:xfrm>
            <a:off x="6515100" y="4991100"/>
            <a:ext cx="4533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No real taxpayer data, bank data, PII, secrets, or live filing credentials belong in the project.</a:t>
            </a:r>
          </a:p>
        </p:txBody>
      </p:sp>
    </p:spTree>
    <p:extLst>
      <p:ext uri="{BB962C8B-B14F-4D97-AF65-F5344CB8AC3E}">
        <p14:creationId xmlns:p14="http://schemas.microsoft.com/office/powerpoint/2010/main" val="1756896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423176F-58DF-472B-8BEB-80525D7476AE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narrows the field before the prototype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26C478-6E44-4DCE-8F0A-1BAA7EB16E4E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workflow moves from broad discovery to hands-on comparison.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5AAAB2-EB6A-4AD3-BCF0-557C198E4739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E17F24-DFF4-4384-B882-86BA42ACBD57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2571750" cy="2476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06193A-5C71-4A20-A2BA-94156F02F765}"/>
              </a:ext>
            </a:extLst>
          </p:cNvPr>
          <p:cNvSpPr>
            <a:spLocks noGrp="1"/>
          </p:cNvSpPr>
          <p:nvPr/>
        </p:nvSpPr>
        <p:spPr>
          <a:xfrm>
            <a:off x="571500" y="23622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D7ACC8-9BB2-49A3-8FF4-A01B7F2D82B1}"/>
              </a:ext>
            </a:extLst>
          </p:cNvPr>
          <p:cNvSpPr>
            <a:spLocks noGrp="1"/>
          </p:cNvSpPr>
          <p:nvPr/>
        </p:nvSpPr>
        <p:spPr>
          <a:xfrm>
            <a:off x="571500" y="2781300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Longlist and health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8DD116-94AB-479A-9089-4BDA9C5B2073}"/>
              </a:ext>
            </a:extLst>
          </p:cNvPr>
          <p:cNvSpPr>
            <a:spLocks noGrp="1"/>
          </p:cNvSpPr>
          <p:nvPr/>
        </p:nvSpPr>
        <p:spPr>
          <a:xfrm>
            <a:off x="571500" y="3257550"/>
            <a:ext cx="22288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Candidate tools, project metadata, licenses, release/activity signals, and docs quality.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C58443-A9AE-491A-9154-96B87F3274A0}"/>
              </a:ext>
            </a:extLst>
          </p:cNvPr>
          <p:cNvSpPr>
            <a:spLocks noGrp="1"/>
          </p:cNvSpPr>
          <p:nvPr/>
        </p:nvSpPr>
        <p:spPr>
          <a:xfrm>
            <a:off x="3219450" y="2190750"/>
            <a:ext cx="2571750" cy="2476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FED532-5AB4-4050-9E11-D64A5F1C4AE8}"/>
              </a:ext>
            </a:extLst>
          </p:cNvPr>
          <p:cNvSpPr>
            <a:spLocks noGrp="1"/>
          </p:cNvSpPr>
          <p:nvPr/>
        </p:nvSpPr>
        <p:spPr>
          <a:xfrm>
            <a:off x="3390900" y="23622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4D7879-6156-4D3A-9A80-05793B48199C}"/>
              </a:ext>
            </a:extLst>
          </p:cNvPr>
          <p:cNvSpPr>
            <a:spLocks noGrp="1"/>
          </p:cNvSpPr>
          <p:nvPr/>
        </p:nvSpPr>
        <p:spPr>
          <a:xfrm>
            <a:off x="3390900" y="2781300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Surface survey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B94FD4-83C5-4299-87B0-713ECD5302D5}"/>
              </a:ext>
            </a:extLst>
          </p:cNvPr>
          <p:cNvSpPr>
            <a:spLocks noGrp="1"/>
          </p:cNvSpPr>
          <p:nvPr/>
        </p:nvSpPr>
        <p:spPr>
          <a:xfrm>
            <a:off x="3390900" y="3257550"/>
            <a:ext cx="22288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CLI, library, REST, file format, schema, database, plugin, and export paths.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062BD-1C2C-450E-87E3-CAC0C3950735}"/>
              </a:ext>
            </a:extLst>
          </p:cNvPr>
          <p:cNvSpPr>
            <a:spLocks noGrp="1"/>
          </p:cNvSpPr>
          <p:nvPr/>
        </p:nvSpPr>
        <p:spPr>
          <a:xfrm>
            <a:off x="6038850" y="2190750"/>
            <a:ext cx="2571750" cy="2476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1130E8-88E3-4BA9-AEC9-A7F5768F5EDF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633B28-A805-4D05-9471-97B924906D28}"/>
              </a:ext>
            </a:extLst>
          </p:cNvPr>
          <p:cNvSpPr>
            <a:spLocks noGrp="1"/>
          </p:cNvSpPr>
          <p:nvPr/>
        </p:nvSpPr>
        <p:spPr>
          <a:xfrm>
            <a:off x="6210300" y="2781300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Hands-on tests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0C9C38-10B7-4E76-8A6D-49D1E8F169F2}"/>
              </a:ext>
            </a:extLst>
          </p:cNvPr>
          <p:cNvSpPr>
            <a:spLocks noGrp="1"/>
          </p:cNvSpPr>
          <p:nvPr/>
        </p:nvSpPr>
        <p:spPr>
          <a:xfrm>
            <a:off x="6210300" y="3257550"/>
            <a:ext cx="22288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Shared synthetic workflow plus setup, structured output, and failure behavior evidence.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F6B58A-5476-4D20-A4ED-7256FC3E50AC}"/>
              </a:ext>
            </a:extLst>
          </p:cNvPr>
          <p:cNvSpPr>
            <a:spLocks noGrp="1"/>
          </p:cNvSpPr>
          <p:nvPr/>
        </p:nvSpPr>
        <p:spPr>
          <a:xfrm>
            <a:off x="8858250" y="2190750"/>
            <a:ext cx="2571750" cy="2476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328323-D8F4-4D65-AC4B-0E6562A84502}"/>
              </a:ext>
            </a:extLst>
          </p:cNvPr>
          <p:cNvSpPr>
            <a:spLocks noGrp="1"/>
          </p:cNvSpPr>
          <p:nvPr/>
        </p:nvSpPr>
        <p:spPr>
          <a:xfrm>
            <a:off x="9029700" y="23622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88E2E9-7787-4F6F-9283-B120EEF83953}"/>
              </a:ext>
            </a:extLst>
          </p:cNvPr>
          <p:cNvSpPr>
            <a:spLocks noGrp="1"/>
          </p:cNvSpPr>
          <p:nvPr/>
        </p:nvSpPr>
        <p:spPr>
          <a:xfrm>
            <a:off x="9029700" y="2781300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Prototype choice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1D52D8-4315-4D7D-8396-BEADB795C711}"/>
              </a:ext>
            </a:extLst>
          </p:cNvPr>
          <p:cNvSpPr>
            <a:spLocks noGrp="1"/>
          </p:cNvSpPr>
          <p:nvPr/>
        </p:nvSpPr>
        <p:spPr>
          <a:xfrm>
            <a:off x="9029700" y="3257550"/>
            <a:ext cx="22288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Compare value, feasibility, safety, demo clarity, and honest scope.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73F3A7-669B-43A8-9AD9-6FD69DB46137}"/>
              </a:ext>
            </a:extLst>
          </p:cNvPr>
          <p:cNvSpPr>
            <a:spLocks noGrp="1"/>
          </p:cNvSpPr>
          <p:nvPr/>
        </p:nvSpPr>
        <p:spPr>
          <a:xfrm>
            <a:off x="400050" y="5286375"/>
            <a:ext cx="952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method favors repeatable local evidence over catalog-style claims.</a:t>
            </a:r>
          </a:p>
        </p:txBody>
      </p:sp>
    </p:spTree>
    <p:extLst>
      <p:ext uri="{BB962C8B-B14F-4D97-AF65-F5344CB8AC3E}">
        <p14:creationId xmlns:p14="http://schemas.microsoft.com/office/powerpoint/2010/main" val="1965666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F000227-E83B-46C8-B142-0D19619D5C90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ecosystem is a chain, not one product category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BA6646-418D-47F0-B04D-C9D92F89CF42}"/>
              </a:ext>
            </a:extLst>
          </p:cNvPr>
          <p:cNvSpPr>
            <a:spLocks noGrp="1"/>
          </p:cNvSpPr>
          <p:nvPr/>
        </p:nvSpPr>
        <p:spPr>
          <a:xfrm>
            <a:off x="400050" y="1700213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Each layer exposes different integration surfaces and different risks.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A12FCB-6089-45B8-AE94-6C6288538F05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849E28-775A-40C2-B75D-5EB6DC9EEE74}"/>
              </a:ext>
            </a:extLst>
          </p:cNvPr>
          <p:cNvSpPr>
            <a:spLocks noGrp="1"/>
          </p:cNvSpPr>
          <p:nvPr/>
        </p:nvSpPr>
        <p:spPr>
          <a:xfrm>
            <a:off x="400050" y="2381250"/>
            <a:ext cx="2156460" cy="1695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397C0C-3FB9-46BE-8FD1-EE6F9A66BB45}"/>
              </a:ext>
            </a:extLst>
          </p:cNvPr>
          <p:cNvSpPr>
            <a:spLocks noGrp="1"/>
          </p:cNvSpPr>
          <p:nvPr/>
        </p:nvSpPr>
        <p:spPr>
          <a:xfrm>
            <a:off x="533400" y="2552700"/>
            <a:ext cx="18897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4061AC-5F6A-41BB-B4D6-A2AA10186F11}"/>
              </a:ext>
            </a:extLst>
          </p:cNvPr>
          <p:cNvSpPr>
            <a:spLocks noGrp="1"/>
          </p:cNvSpPr>
          <p:nvPr/>
        </p:nvSpPr>
        <p:spPr>
          <a:xfrm>
            <a:off x="533400" y="3009900"/>
            <a:ext cx="188976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CSV, OFX, QIF, bank-export conversion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FBF16E1-857B-426C-BFC0-3FBE0CAF2B0B}"/>
              </a:ext>
            </a:extLst>
          </p:cNvPr>
          <p:cNvSpPr>
            <a:spLocks noGrp="1"/>
          </p:cNvSpPr>
          <p:nvPr/>
        </p:nvSpPr>
        <p:spPr>
          <a:xfrm>
            <a:off x="2575560" y="3228975"/>
            <a:ext cx="1143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2B13F2-5CDE-4D60-BFED-6F4456C0D567}"/>
              </a:ext>
            </a:extLst>
          </p:cNvPr>
          <p:cNvSpPr>
            <a:spLocks noGrp="1"/>
          </p:cNvSpPr>
          <p:nvPr/>
        </p:nvSpPr>
        <p:spPr>
          <a:xfrm>
            <a:off x="2708910" y="2381250"/>
            <a:ext cx="2156460" cy="1695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5302A-D279-43F5-B9F8-9292AC332055}"/>
              </a:ext>
            </a:extLst>
          </p:cNvPr>
          <p:cNvSpPr>
            <a:spLocks noGrp="1"/>
          </p:cNvSpPr>
          <p:nvPr/>
        </p:nvSpPr>
        <p:spPr>
          <a:xfrm>
            <a:off x="2842260" y="2552700"/>
            <a:ext cx="18897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Bookkeeping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209C1F-C229-4928-9E8B-C82074AA43DF}"/>
              </a:ext>
            </a:extLst>
          </p:cNvPr>
          <p:cNvSpPr>
            <a:spLocks noGrp="1"/>
          </p:cNvSpPr>
          <p:nvPr/>
        </p:nvSpPr>
        <p:spPr>
          <a:xfrm>
            <a:off x="2842260" y="3009900"/>
            <a:ext cx="188976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Transactions, accounts, balances, reports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05CA9A26-3763-4564-BE5A-BA0592196F88}"/>
              </a:ext>
            </a:extLst>
          </p:cNvPr>
          <p:cNvSpPr>
            <a:spLocks noGrp="1"/>
          </p:cNvSpPr>
          <p:nvPr/>
        </p:nvSpPr>
        <p:spPr>
          <a:xfrm>
            <a:off x="4884420" y="3228975"/>
            <a:ext cx="1143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0E3C75-8F52-459B-9F4B-2302E60A419E}"/>
              </a:ext>
            </a:extLst>
          </p:cNvPr>
          <p:cNvSpPr>
            <a:spLocks noGrp="1"/>
          </p:cNvSpPr>
          <p:nvPr/>
        </p:nvSpPr>
        <p:spPr>
          <a:xfrm>
            <a:off x="5017770" y="2381250"/>
            <a:ext cx="2156460" cy="1695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D9C486-FDBA-4EF4-95DF-019469B4B457}"/>
              </a:ext>
            </a:extLst>
          </p:cNvPr>
          <p:cNvSpPr>
            <a:spLocks noGrp="1"/>
          </p:cNvSpPr>
          <p:nvPr/>
        </p:nvSpPr>
        <p:spPr>
          <a:xfrm>
            <a:off x="5151120" y="2552700"/>
            <a:ext cx="18897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Tax calculation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51A5F2-DAC2-4524-AF64-4161E1594E48}"/>
              </a:ext>
            </a:extLst>
          </p:cNvPr>
          <p:cNvSpPr>
            <a:spLocks noGrp="1"/>
          </p:cNvSpPr>
          <p:nvPr/>
        </p:nvSpPr>
        <p:spPr>
          <a:xfrm>
            <a:off x="5151120" y="3009900"/>
            <a:ext cx="188976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Liability from summarized facts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7981844A-EC19-4E7E-911F-8AAF0DA13D31}"/>
              </a:ext>
            </a:extLst>
          </p:cNvPr>
          <p:cNvSpPr>
            <a:spLocks noGrp="1"/>
          </p:cNvSpPr>
          <p:nvPr/>
        </p:nvSpPr>
        <p:spPr>
          <a:xfrm>
            <a:off x="7193280" y="3228975"/>
            <a:ext cx="1143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938203-F99A-4B0D-92F0-C7EC18FA1C77}"/>
              </a:ext>
            </a:extLst>
          </p:cNvPr>
          <p:cNvSpPr>
            <a:spLocks noGrp="1"/>
          </p:cNvSpPr>
          <p:nvPr/>
        </p:nvSpPr>
        <p:spPr>
          <a:xfrm>
            <a:off x="7326630" y="2381250"/>
            <a:ext cx="2156460" cy="16954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FFE3EE-3928-4FD4-82E9-52D224993B38}"/>
              </a:ext>
            </a:extLst>
          </p:cNvPr>
          <p:cNvSpPr>
            <a:spLocks noGrp="1"/>
          </p:cNvSpPr>
          <p:nvPr/>
        </p:nvSpPr>
        <p:spPr>
          <a:xfrm>
            <a:off x="7459980" y="2552700"/>
            <a:ext cx="18897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Forms and output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F60D8F-D062-4714-978E-3B0169A94BF3}"/>
              </a:ext>
            </a:extLst>
          </p:cNvPr>
          <p:cNvSpPr>
            <a:spLocks noGrp="1"/>
          </p:cNvSpPr>
          <p:nvPr/>
        </p:nvSpPr>
        <p:spPr>
          <a:xfrm>
            <a:off x="7459980" y="3009900"/>
            <a:ext cx="188976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Return lines, schemas, PDFs or XML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0C34B18-8219-4947-A82A-382EB76E7E27}"/>
              </a:ext>
            </a:extLst>
          </p:cNvPr>
          <p:cNvSpPr>
            <a:spLocks noGrp="1"/>
          </p:cNvSpPr>
          <p:nvPr/>
        </p:nvSpPr>
        <p:spPr>
          <a:xfrm>
            <a:off x="9502140" y="3228975"/>
            <a:ext cx="1143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9DABEE-39FC-46DE-A7C6-CC72D588B045}"/>
              </a:ext>
            </a:extLst>
          </p:cNvPr>
          <p:cNvSpPr>
            <a:spLocks noGrp="1"/>
          </p:cNvSpPr>
          <p:nvPr/>
        </p:nvSpPr>
        <p:spPr>
          <a:xfrm>
            <a:off x="9635490" y="2381250"/>
            <a:ext cx="2156460" cy="169545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CAEB8B-C489-4D4A-AE29-246E2D25714D}"/>
              </a:ext>
            </a:extLst>
          </p:cNvPr>
          <p:cNvSpPr>
            <a:spLocks noGrp="1"/>
          </p:cNvSpPr>
          <p:nvPr/>
        </p:nvSpPr>
        <p:spPr>
          <a:xfrm>
            <a:off x="9768840" y="2552700"/>
            <a:ext cx="18897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Filing references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F0C388-2DF6-4FB8-B48F-1F68D07D4F0C}"/>
              </a:ext>
            </a:extLst>
          </p:cNvPr>
          <p:cNvSpPr>
            <a:spLocks noGrp="1"/>
          </p:cNvSpPr>
          <p:nvPr/>
        </p:nvSpPr>
        <p:spPr>
          <a:xfrm>
            <a:off x="9768840" y="3009900"/>
            <a:ext cx="188976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Government context, not a public channel here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6EAD4B-E742-48CC-A1AF-DC37F1A6C2BD}"/>
              </a:ext>
            </a:extLst>
          </p:cNvPr>
          <p:cNvSpPr>
            <a:spLocks noGrp="1"/>
          </p:cNvSpPr>
          <p:nvPr/>
        </p:nvSpPr>
        <p:spPr>
          <a:xfrm>
            <a:off x="1047750" y="4895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139"/>
          </a:bodyPr>
          <a:lstStyle/>
          <a:p>
            <a:pPr algn="ctr">
              <a:lnSpc>
                <a:spcPct val="108000"/>
              </a:lnSpc>
              <a:buNone/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missing layer is connective tissue: validation, normalization, provenance, and honest boundaries.</a:t>
            </a:r>
          </a:p>
        </p:txBody>
      </p:sp>
    </p:spTree>
    <p:extLst>
      <p:ext uri="{BB962C8B-B14F-4D97-AF65-F5344CB8AC3E}">
        <p14:creationId xmlns:p14="http://schemas.microsoft.com/office/powerpoint/2010/main" val="862894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F38D247-E902-4F45-BF15-91C4783CC6A8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shortlist deliberately spans five roles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0BF7F7-95FE-4F5B-8E52-45C343436CA8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evaluated tools cover file, local API, REST, calculation, and form-level paths.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1A1E17-0D36-478E-94F2-C36043F11804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099154-C055-4B89-87ED-9435139A206C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2057400" cy="251460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3B69EB-4F15-40DE-A6FA-35B749EABA3B}"/>
              </a:ext>
            </a:extLst>
          </p:cNvPr>
          <p:cNvSpPr>
            <a:spLocks noGrp="1"/>
          </p:cNvSpPr>
          <p:nvPr/>
        </p:nvSpPr>
        <p:spPr>
          <a:xfrm>
            <a:off x="533400" y="22288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hledger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F2E146-A398-448F-AA7D-89DCE059E015}"/>
              </a:ext>
            </a:extLst>
          </p:cNvPr>
          <p:cNvSpPr>
            <a:spLocks noGrp="1"/>
          </p:cNvSpPr>
          <p:nvPr/>
        </p:nvSpPr>
        <p:spPr>
          <a:xfrm>
            <a:off x="533400" y="2590800"/>
            <a:ext cx="1790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File/CLI/JSON accounting path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72881A-BCF8-424E-B646-56654EF3FB53}"/>
              </a:ext>
            </a:extLst>
          </p:cNvPr>
          <p:cNvSpPr>
            <a:spLocks noGrp="1"/>
          </p:cNvSpPr>
          <p:nvPr/>
        </p:nvSpPr>
        <p:spPr>
          <a:xfrm>
            <a:off x="533400" y="3448050"/>
            <a:ext cx="17907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Transparent and low-friction; not a tax engine.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5C7906-59AB-47C6-BA44-CA0EDAFD33C6}"/>
              </a:ext>
            </a:extLst>
          </p:cNvPr>
          <p:cNvSpPr>
            <a:spLocks noGrp="1"/>
          </p:cNvSpPr>
          <p:nvPr/>
        </p:nvSpPr>
        <p:spPr>
          <a:xfrm>
            <a:off x="2733675" y="2076450"/>
            <a:ext cx="2057400" cy="25146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54184A-A2FF-4C52-B29E-96FD582489EB}"/>
              </a:ext>
            </a:extLst>
          </p:cNvPr>
          <p:cNvSpPr>
            <a:spLocks noGrp="1"/>
          </p:cNvSpPr>
          <p:nvPr/>
        </p:nvSpPr>
        <p:spPr>
          <a:xfrm>
            <a:off x="2867025" y="22288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Actual Budget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6446F-80B5-47CA-A091-726F6523DC07}"/>
              </a:ext>
            </a:extLst>
          </p:cNvPr>
          <p:cNvSpPr>
            <a:spLocks noGrp="1"/>
          </p:cNvSpPr>
          <p:nvPr/>
        </p:nvSpPr>
        <p:spPr>
          <a:xfrm>
            <a:off x="2867025" y="2590800"/>
            <a:ext cx="1790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Local-first app/API and CLI path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43C840-5058-40F8-92C9-02F4B9302991}"/>
              </a:ext>
            </a:extLst>
          </p:cNvPr>
          <p:cNvSpPr>
            <a:spLocks noGrp="1"/>
          </p:cNvSpPr>
          <p:nvPr/>
        </p:nvSpPr>
        <p:spPr>
          <a:xfrm>
            <a:off x="2867025" y="3448050"/>
            <a:ext cx="17907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Good backup; direct-add validation gaps.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CEF00F-D943-4DD8-84F3-952D710DA729}"/>
              </a:ext>
            </a:extLst>
          </p:cNvPr>
          <p:cNvSpPr>
            <a:spLocks noGrp="1"/>
          </p:cNvSpPr>
          <p:nvPr/>
        </p:nvSpPr>
        <p:spPr>
          <a:xfrm>
            <a:off x="5067300" y="2076450"/>
            <a:ext cx="2057400" cy="25146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8F816B-58EF-4AFC-A0D9-00ED2AA8D14F}"/>
              </a:ext>
            </a:extLst>
          </p:cNvPr>
          <p:cNvSpPr>
            <a:spLocks noGrp="1"/>
          </p:cNvSpPr>
          <p:nvPr/>
        </p:nvSpPr>
        <p:spPr>
          <a:xfrm>
            <a:off x="5200650" y="22288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Firefly III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40B410-0263-438F-9AA2-C0D5090BD14E}"/>
              </a:ext>
            </a:extLst>
          </p:cNvPr>
          <p:cNvSpPr>
            <a:spLocks noGrp="1"/>
          </p:cNvSpPr>
          <p:nvPr/>
        </p:nvSpPr>
        <p:spPr>
          <a:xfrm>
            <a:off x="5200650" y="2590800"/>
            <a:ext cx="1790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Self-hosted REST JSON path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96C317-625B-44EC-B684-6B4433BA5AD4}"/>
              </a:ext>
            </a:extLst>
          </p:cNvPr>
          <p:cNvSpPr>
            <a:spLocks noGrp="1"/>
          </p:cNvSpPr>
          <p:nvPr/>
        </p:nvSpPr>
        <p:spPr>
          <a:xfrm>
            <a:off x="5200650" y="3448050"/>
            <a:ext cx="17907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Strong API; heavier setup and AGPL posture.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FE92AB-A7EE-4556-A293-414AAE4910BC}"/>
              </a:ext>
            </a:extLst>
          </p:cNvPr>
          <p:cNvSpPr>
            <a:spLocks noGrp="1"/>
          </p:cNvSpPr>
          <p:nvPr/>
        </p:nvSpPr>
        <p:spPr>
          <a:xfrm>
            <a:off x="7400925" y="2076450"/>
            <a:ext cx="2057400" cy="25146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75D51D-98C1-4932-BEAD-F942A179AB25}"/>
              </a:ext>
            </a:extLst>
          </p:cNvPr>
          <p:cNvSpPr>
            <a:spLocks noGrp="1"/>
          </p:cNvSpPr>
          <p:nvPr/>
        </p:nvSpPr>
        <p:spPr>
          <a:xfrm>
            <a:off x="7534275" y="22288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tenforty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DF30EA-1C63-4814-A463-CF26C2C26AB9}"/>
              </a:ext>
            </a:extLst>
          </p:cNvPr>
          <p:cNvSpPr>
            <a:spLocks noGrp="1"/>
          </p:cNvSpPr>
          <p:nvPr/>
        </p:nvSpPr>
        <p:spPr>
          <a:xfrm>
            <a:off x="7534275" y="2590800"/>
            <a:ext cx="1790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Tax-liability library path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DA9CC6-2F41-4227-8E8C-2FBFD018A24A}"/>
              </a:ext>
            </a:extLst>
          </p:cNvPr>
          <p:cNvSpPr>
            <a:spLocks noGrp="1"/>
          </p:cNvSpPr>
          <p:nvPr/>
        </p:nvSpPr>
        <p:spPr>
          <a:xfrm>
            <a:off x="7534275" y="3448050"/>
            <a:ext cx="17907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Needs summarized inputs; no transaction workflow.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F3BEE1-1DCA-4431-BB39-8AE71C17B15A}"/>
              </a:ext>
            </a:extLst>
          </p:cNvPr>
          <p:cNvSpPr>
            <a:spLocks noGrp="1"/>
          </p:cNvSpPr>
          <p:nvPr/>
        </p:nvSpPr>
        <p:spPr>
          <a:xfrm>
            <a:off x="9734550" y="2076450"/>
            <a:ext cx="2057400" cy="25146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928738-A053-4E3A-BE5E-6D6795956C30}"/>
              </a:ext>
            </a:extLst>
          </p:cNvPr>
          <p:cNvSpPr>
            <a:spLocks noGrp="1"/>
          </p:cNvSpPr>
          <p:nvPr/>
        </p:nvSpPr>
        <p:spPr>
          <a:xfrm>
            <a:off x="9867900" y="22288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712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Filed Open Tax Engine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AC8A8C-FB7D-4667-B3C9-91D418762F1C}"/>
              </a:ext>
            </a:extLst>
          </p:cNvPr>
          <p:cNvSpPr>
            <a:spLocks noGrp="1"/>
          </p:cNvSpPr>
          <p:nvPr/>
        </p:nvSpPr>
        <p:spPr>
          <a:xfrm>
            <a:off x="9867900" y="2590800"/>
            <a:ext cx="1790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Form-level federal engine path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74ECFF-8ED2-4575-A12A-6364B72D7687}"/>
              </a:ext>
            </a:extLst>
          </p:cNvPr>
          <p:cNvSpPr>
            <a:spLocks noGrp="1"/>
          </p:cNvSpPr>
          <p:nvPr/>
        </p:nvSpPr>
        <p:spPr>
          <a:xfrm>
            <a:off x="9867900" y="3448050"/>
            <a:ext cx="17907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Highest form upside; maturity and validation caution.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C4B54C-FC40-4DE1-85D9-EA9CD7943160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990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162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shortlist is balanced around integration surfaces, not around a single expected winner.</a:t>
            </a:r>
          </a:p>
        </p:txBody>
      </p:sp>
    </p:spTree>
    <p:extLst>
      <p:ext uri="{BB962C8B-B14F-4D97-AF65-F5344CB8AC3E}">
        <p14:creationId xmlns:p14="http://schemas.microsoft.com/office/powerpoint/2010/main" val="1730998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D564E95-F247-4572-8CA6-06DC8ACF9BE4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synthetic scenario makes tests comparable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3D504A-B781-4DC8-BA07-6F0C120FDA65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same facts travel through very different tool surfaces.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F48502-4375-4B92-B239-D52A188C5D62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F9CC32-2F74-4764-A6BA-C3222FCFC554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2095500" cy="1428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E75C93-9437-4993-B751-07D2059872EA}"/>
              </a:ext>
            </a:extLst>
          </p:cNvPr>
          <p:cNvSpPr>
            <a:spLocks noGrp="1"/>
          </p:cNvSpPr>
          <p:nvPr/>
        </p:nvSpPr>
        <p:spPr>
          <a:xfrm>
            <a:off x="571500" y="2266950"/>
            <a:ext cx="1752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844386-8AA4-465F-A3BF-28E179104465}"/>
              </a:ext>
            </a:extLst>
          </p:cNvPr>
          <p:cNvSpPr>
            <a:spLocks noGrp="1"/>
          </p:cNvSpPr>
          <p:nvPr/>
        </p:nvSpPr>
        <p:spPr>
          <a:xfrm>
            <a:off x="571500" y="3028950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baseline transactions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23CDD9-46E0-4CF3-AC76-57D600DF47CB}"/>
              </a:ext>
            </a:extLst>
          </p:cNvPr>
          <p:cNvSpPr>
            <a:spLocks noGrp="1"/>
          </p:cNvSpPr>
          <p:nvPr/>
        </p:nvSpPr>
        <p:spPr>
          <a:xfrm>
            <a:off x="2781300" y="2095500"/>
            <a:ext cx="2762250" cy="142875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720F9A-E7A7-4F18-AB73-2C52D76BA1EA}"/>
              </a:ext>
            </a:extLst>
          </p:cNvPr>
          <p:cNvSpPr>
            <a:spLocks noGrp="1"/>
          </p:cNvSpPr>
          <p:nvPr/>
        </p:nvSpPr>
        <p:spPr>
          <a:xfrm>
            <a:off x="2952750" y="2266950"/>
            <a:ext cx="2419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7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$8,964.77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12E379-9C25-46DE-A1CF-736B0F0EB58C}"/>
              </a:ext>
            </a:extLst>
          </p:cNvPr>
          <p:cNvSpPr>
            <a:spLocks noGrp="1"/>
          </p:cNvSpPr>
          <p:nvPr/>
        </p:nvSpPr>
        <p:spPr>
          <a:xfrm>
            <a:off x="2952750" y="3028950"/>
            <a:ext cx="2419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expected checking balance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4A3263-406D-4EA4-8490-FCB1A806318C}"/>
              </a:ext>
            </a:extLst>
          </p:cNvPr>
          <p:cNvSpPr>
            <a:spLocks noGrp="1"/>
          </p:cNvSpPr>
          <p:nvPr/>
        </p:nvSpPr>
        <p:spPr>
          <a:xfrm>
            <a:off x="5829300" y="2095500"/>
            <a:ext cx="2762250" cy="1428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04708A-1E6F-4E67-BA80-8FD61F450259}"/>
              </a:ext>
            </a:extLst>
          </p:cNvPr>
          <p:cNvSpPr>
            <a:spLocks noGrp="1"/>
          </p:cNvSpPr>
          <p:nvPr/>
        </p:nvSpPr>
        <p:spPr>
          <a:xfrm>
            <a:off x="6000750" y="2266950"/>
            <a:ext cx="2419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$9,107.02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7FE739-DE63-4321-B2FD-DDA19C4FB090}"/>
              </a:ext>
            </a:extLst>
          </p:cNvPr>
          <p:cNvSpPr>
            <a:spLocks noGrp="1"/>
          </p:cNvSpPr>
          <p:nvPr/>
        </p:nvSpPr>
        <p:spPr>
          <a:xfrm>
            <a:off x="6000750" y="3028950"/>
            <a:ext cx="2419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136"/>
          </a:bodyPr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Schedule C-style net before mileage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50A9D9-2400-4CC1-B4DC-2B422DFE887A}"/>
              </a:ext>
            </a:extLst>
          </p:cNvPr>
          <p:cNvSpPr>
            <a:spLocks noGrp="1"/>
          </p:cNvSpPr>
          <p:nvPr/>
        </p:nvSpPr>
        <p:spPr>
          <a:xfrm>
            <a:off x="8877300" y="2095500"/>
            <a:ext cx="2533650" cy="1428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0F132B-45C2-4B3A-99A2-C2F4E7D58438}"/>
              </a:ext>
            </a:extLst>
          </p:cNvPr>
          <p:cNvSpPr>
            <a:spLocks noGrp="1"/>
          </p:cNvSpPr>
          <p:nvPr/>
        </p:nvSpPr>
        <p:spPr>
          <a:xfrm>
            <a:off x="9048750" y="2266950"/>
            <a:ext cx="2190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TADD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CF64C3-7881-497D-BCE7-02865C149038}"/>
              </a:ext>
            </a:extLst>
          </p:cNvPr>
          <p:cNvSpPr>
            <a:spLocks noGrp="1"/>
          </p:cNvSpPr>
          <p:nvPr/>
        </p:nvSpPr>
        <p:spPr>
          <a:xfrm>
            <a:off x="9048750" y="30289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1549"/>
          </a:bodyPr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standard added software expense changes checking to $8,939.78</a:t>
            </a:r>
          </a:p>
        </p:txBody>
      </p:sp>
      <p:graphicFrame>
        <p:nvGraphicFramePr>
          <p:cNvPr id="32" name="Table 31"/>
          <p:cNvGraphicFramePr/>
          <p:nvPr/>
        </p:nvGraphicFramePr>
        <p:xfrm>
          <a:off x="400050" y="4171950"/>
          <a:ext cx="11391900" cy="1524000"/>
        </p:xfrm>
        <a:graphic>
          <a:graphicData uri="http://schemas.openxmlformats.org/drawingml/2006/table">
            <a:tbl>
              <a:tblPr firstRow="1" bandRow="1"/>
              <a:tblGrid>
                <a:gridCol w="569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 type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Synthetic example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Freelance design and consulting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Software, office equipment, supplies, travel,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Tax-adjacent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Interest, charity placeholders, estimated payments, mileage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195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B03393-725D-469C-8263-77292747108B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hledger is the clearest bookkeeping path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7DF105-4AF8-4461-90EE-76FA61CEC51A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main tradeoff is setup and transparency versus app/server features.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28222C-3A35-430A-88FB-6BFA09A72B44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400050" y="2076450"/>
          <a:ext cx="11391900" cy="2381252"/>
        </p:xfrm>
        <a:graphic>
          <a:graphicData uri="http://schemas.openxmlformats.org/drawingml/2006/table">
            <a:tbl>
              <a:tblPr firstRow="1" bandRow="1"/>
              <a:tblGrid>
                <a:gridCol w="284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Tool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surface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Caution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hledger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CLI, CSV rules,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Lowest setup and transparent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Wrapper must reject unknown accounts and duplicate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Node API and CLI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Best local app/API backup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tax forms; direct-add validation 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Firefly III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REST JSON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Strongest REST comparator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Docker, auth, state, and AGPL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9FFD4DC-4602-48AB-8ECC-BE1B28FE15B4}"/>
              </a:ext>
            </a:extLst>
          </p:cNvPr>
          <p:cNvSpPr>
            <a:spLocks noGrp="1"/>
          </p:cNvSpPr>
          <p:nvPr/>
        </p:nvSpPr>
        <p:spPr>
          <a:xfrm>
            <a:off x="400050" y="5067300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three can model transactions and balances. None is a tax-preparation engine.</a:t>
            </a:r>
          </a:p>
        </p:txBody>
      </p:sp>
    </p:spTree>
    <p:extLst>
      <p:ext uri="{BB962C8B-B14F-4D97-AF65-F5344CB8AC3E}">
        <p14:creationId xmlns:p14="http://schemas.microsoft.com/office/powerpoint/2010/main" val="21291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875C102-1C05-4298-9D03-856E6DA7D52E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Tax-specific tools are downstream components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FE9BF9-4CB8-4550-8BE4-2FCD863AA269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They add calculation or form detail after facts are already summarized.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67A8AE-5565-4E9A-943D-BFB5B4456BA9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F75C9C-258D-458B-BD70-148D5E3560B9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5143500" cy="257175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1FA048-0CEF-4332-ACA6-BECE11D129F8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76200" cy="25717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B5FFF-CD03-4ABF-AF78-6579F9EC61E2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tenforty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EB98C2-C525-446D-BBF4-AD0B16F8860F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47244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Best compact tax-liability component. It accepts summarized tax facts, but it does not import transactions, manage accounts, model estimated payments/refunds, create PDFs, or file.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2EA3C5-AD0D-4D55-925B-E791BAED579F}"/>
              </a:ext>
            </a:extLst>
          </p:cNvPr>
          <p:cNvSpPr>
            <a:spLocks noGrp="1"/>
          </p:cNvSpPr>
          <p:nvPr/>
        </p:nvSpPr>
        <p:spPr>
          <a:xfrm>
            <a:off x="6305550" y="2190750"/>
            <a:ext cx="5143500" cy="2571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EBE61F-85F5-497E-AF12-E1ABAFD388B0}"/>
              </a:ext>
            </a:extLst>
          </p:cNvPr>
          <p:cNvSpPr>
            <a:spLocks noGrp="1"/>
          </p:cNvSpPr>
          <p:nvPr/>
        </p:nvSpPr>
        <p:spPr>
          <a:xfrm>
            <a:off x="6515100" y="2362200"/>
            <a:ext cx="472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Filed Open Tax Engine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03668E-08B5-4728-8A56-68F04A341E83}"/>
              </a:ext>
            </a:extLst>
          </p:cNvPr>
          <p:cNvSpPr>
            <a:spLocks noGrp="1"/>
          </p:cNvSpPr>
          <p:nvPr/>
        </p:nvSpPr>
        <p:spPr>
          <a:xfrm>
            <a:off x="6515100" y="2743200"/>
            <a:ext cx="47244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Richest form-level candidate. It produced tested 1040/Schedule C-style outputs, but maturity, validation/export behavior, duplicate/date acceptance, and licensing require caution.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40B6E8-B582-46B2-A8B5-B25B50041CFC}"/>
              </a:ext>
            </a:extLst>
          </p:cNvPr>
          <p:cNvSpPr>
            <a:spLocks noGrp="1"/>
          </p:cNvSpPr>
          <p:nvPr/>
        </p:nvSpPr>
        <p:spPr>
          <a:xfrm>
            <a:off x="400050" y="5314950"/>
            <a:ext cx="1057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37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Both tools make more sense after a bookkeeping fact layer has already done validation and summarization.</a:t>
            </a:r>
          </a:p>
        </p:txBody>
      </p:sp>
    </p:spTree>
    <p:extLst>
      <p:ext uri="{BB962C8B-B14F-4D97-AF65-F5344CB8AC3E}">
        <p14:creationId xmlns:p14="http://schemas.microsoft.com/office/powerpoint/2010/main" val="2045280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9187A4A-CD20-4058-AECE-12AFCDD1B337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evaluated tool forms a complete filing stack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77A613-54C5-4115-9540-8E9C8F12CB36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Each capability step narrows the tools that can support it.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BBEF9-6B18-498A-9631-F9B5E6191A38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856916-1123-4694-88CF-3507AE9E1AF4}"/>
              </a:ext>
            </a:extLst>
          </p:cNvPr>
          <p:cNvSpPr>
            <a:spLocks noGrp="1"/>
          </p:cNvSpPr>
          <p:nvPr/>
        </p:nvSpPr>
        <p:spPr>
          <a:xfrm>
            <a:off x="552450" y="2381250"/>
            <a:ext cx="1466850" cy="12573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BB7361-138B-4A2C-AA1F-371B1291398F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Transactions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2133C9-5C59-4B91-8DA4-2BB3BD716916}"/>
              </a:ext>
            </a:extLst>
          </p:cNvPr>
          <p:cNvSpPr>
            <a:spLocks noGrp="1"/>
          </p:cNvSpPr>
          <p:nvPr/>
        </p:nvSpPr>
        <p:spPr>
          <a:xfrm>
            <a:off x="666750" y="29718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hledger, Actual, Firefly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5726B2-BA1A-41D6-B336-3CE14368C45E}"/>
              </a:ext>
            </a:extLst>
          </p:cNvPr>
          <p:cNvSpPr>
            <a:spLocks noGrp="1"/>
          </p:cNvSpPr>
          <p:nvPr/>
        </p:nvSpPr>
        <p:spPr>
          <a:xfrm>
            <a:off x="2171700" y="2552700"/>
            <a:ext cx="1466850" cy="12573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306314-7F94-4979-B5A7-284232598F48}"/>
              </a:ext>
            </a:extLst>
          </p:cNvPr>
          <p:cNvSpPr>
            <a:spLocks noGrp="1"/>
          </p:cNvSpPr>
          <p:nvPr/>
        </p:nvSpPr>
        <p:spPr>
          <a:xfrm>
            <a:off x="2286000" y="27241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Balances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C85732-6728-4C85-B612-200ED79457CA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hledger, Actual, Firefly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D58561-08FA-44C0-A451-3B0CF21326A9}"/>
              </a:ext>
            </a:extLst>
          </p:cNvPr>
          <p:cNvSpPr>
            <a:spLocks noGrp="1"/>
          </p:cNvSpPr>
          <p:nvPr/>
        </p:nvSpPr>
        <p:spPr>
          <a:xfrm>
            <a:off x="3790950" y="2724150"/>
            <a:ext cx="1466850" cy="12573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B7AB71-43F8-441D-B281-38CC80FE3E7C}"/>
              </a:ext>
            </a:extLst>
          </p:cNvPr>
          <p:cNvSpPr>
            <a:spLocks noGrp="1"/>
          </p:cNvSpPr>
          <p:nvPr/>
        </p:nvSpPr>
        <p:spPr>
          <a:xfrm>
            <a:off x="3905250" y="28956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Tax summaries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DC5C08-3AAF-4600-8D7A-F97F7031A30E}"/>
              </a:ext>
            </a:extLst>
          </p:cNvPr>
          <p:cNvSpPr>
            <a:spLocks noGrp="1"/>
          </p:cNvSpPr>
          <p:nvPr/>
        </p:nvSpPr>
        <p:spPr>
          <a:xfrm>
            <a:off x="3905250" y="33147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wrapper mapping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499002-4BAC-4AC5-8CD4-DDF947F66BC0}"/>
              </a:ext>
            </a:extLst>
          </p:cNvPr>
          <p:cNvSpPr>
            <a:spLocks noGrp="1"/>
          </p:cNvSpPr>
          <p:nvPr/>
        </p:nvSpPr>
        <p:spPr>
          <a:xfrm>
            <a:off x="5410200" y="2895600"/>
            <a:ext cx="1466850" cy="12573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024AD0-6873-4E05-927D-5D530D76FB83}"/>
              </a:ext>
            </a:extLst>
          </p:cNvPr>
          <p:cNvSpPr>
            <a:spLocks noGrp="1"/>
          </p:cNvSpPr>
          <p:nvPr/>
        </p:nvSpPr>
        <p:spPr>
          <a:xfrm>
            <a:off x="5524500" y="30670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Tax liability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C80ED7-ED65-4D9E-A465-688CDFF22D32}"/>
              </a:ext>
            </a:extLst>
          </p:cNvPr>
          <p:cNvSpPr>
            <a:spLocks noGrp="1"/>
          </p:cNvSpPr>
          <p:nvPr/>
        </p:nvSpPr>
        <p:spPr>
          <a:xfrm>
            <a:off x="5524500" y="348615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tenforty, Filed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9931F8-2CE9-448A-B8E2-ACA26C3B5B34}"/>
              </a:ext>
            </a:extLst>
          </p:cNvPr>
          <p:cNvSpPr>
            <a:spLocks noGrp="1"/>
          </p:cNvSpPr>
          <p:nvPr/>
        </p:nvSpPr>
        <p:spPr>
          <a:xfrm>
            <a:off x="7029450" y="3067050"/>
            <a:ext cx="1466850" cy="12573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C5C093-9D37-4510-BB67-8A78F5380056}"/>
              </a:ext>
            </a:extLst>
          </p:cNvPr>
          <p:cNvSpPr>
            <a:spLocks noGrp="1"/>
          </p:cNvSpPr>
          <p:nvPr/>
        </p:nvSpPr>
        <p:spPr>
          <a:xfrm>
            <a:off x="7143750" y="32385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Form output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F2315F-2EA4-476D-A81F-748A856F2124}"/>
              </a:ext>
            </a:extLst>
          </p:cNvPr>
          <p:cNvSpPr>
            <a:spLocks noGrp="1"/>
          </p:cNvSpPr>
          <p:nvPr/>
        </p:nvSpPr>
        <p:spPr>
          <a:xfrm>
            <a:off x="7143750" y="36576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Filed strongest tested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DE02A4-F850-416B-A91B-BCEB6E230CCF}"/>
              </a:ext>
            </a:extLst>
          </p:cNvPr>
          <p:cNvSpPr>
            <a:spLocks noGrp="1"/>
          </p:cNvSpPr>
          <p:nvPr/>
        </p:nvSpPr>
        <p:spPr>
          <a:xfrm>
            <a:off x="8648700" y="3238500"/>
            <a:ext cx="1466850" cy="125730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0FAD79-BD4B-426C-ABEC-1672D981337F}"/>
              </a:ext>
            </a:extLst>
          </p:cNvPr>
          <p:cNvSpPr>
            <a:spLocks noGrp="1"/>
          </p:cNvSpPr>
          <p:nvPr/>
        </p:nvSpPr>
        <p:spPr>
          <a:xfrm>
            <a:off x="8763000" y="34099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6129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Validation-clean filing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A795BF-5765-426E-81D1-430C06752445}"/>
              </a:ext>
            </a:extLst>
          </p:cNvPr>
          <p:cNvSpPr>
            <a:spLocks noGrp="1"/>
          </p:cNvSpPr>
          <p:nvPr/>
        </p:nvSpPr>
        <p:spPr>
          <a:xfrm>
            <a:off x="8763000" y="382905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not proven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84798E-0010-40F2-BD60-B22AFB33DC7D}"/>
              </a:ext>
            </a:extLst>
          </p:cNvPr>
          <p:cNvSpPr>
            <a:spLocks noGrp="1"/>
          </p:cNvSpPr>
          <p:nvPr/>
        </p:nvSpPr>
        <p:spPr>
          <a:xfrm>
            <a:off x="10267950" y="3409950"/>
            <a:ext cx="1466850" cy="125730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DE8C57-1D71-40FA-B239-636D31986284}"/>
              </a:ext>
            </a:extLst>
          </p:cNvPr>
          <p:cNvSpPr>
            <a:spLocks noGrp="1"/>
          </p:cNvSpPr>
          <p:nvPr/>
        </p:nvSpPr>
        <p:spPr>
          <a:xfrm>
            <a:off x="10382250" y="35814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03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E-file submission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C4B3CD-7E38-45FF-B1AE-516BE187A319}"/>
              </a:ext>
            </a:extLst>
          </p:cNvPr>
          <p:cNvSpPr>
            <a:spLocks noGrp="1"/>
          </p:cNvSpPr>
          <p:nvPr/>
        </p:nvSpPr>
        <p:spPr>
          <a:xfrm>
            <a:off x="10382250" y="40005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not supported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249FF9-747C-4B77-B768-F81EEC27D51F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10439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318"/>
          </a:bodyPr>
          <a:lstStyle/>
          <a:p>
            <a:pPr algn="ctr">
              <a:lnSpc>
                <a:spcPct val="108000"/>
              </a:lnSpc>
              <a:buNone/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practical gap is not data storage. It is validated, traceable facts that can cross tool boundaries.</a:t>
            </a:r>
          </a:p>
        </p:txBody>
      </p:sp>
    </p:spTree>
    <p:extLst>
      <p:ext uri="{BB962C8B-B14F-4D97-AF65-F5344CB8AC3E}">
        <p14:creationId xmlns:p14="http://schemas.microsoft.com/office/powerpoint/2010/main" val="655858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ADE731-86B8-4CC2-9CD5-9333CC2CBCA1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tool earns a different recommendation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6EE1C3-34C5-4D72-B514-3AAE333F1A8D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right answer depends on the integration job.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2729D2-9648-4096-95C1-A7B9D8088819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1143000" y="2000250"/>
          <a:ext cx="9906000" cy="3143252"/>
        </p:xfrm>
        <a:graphic>
          <a:graphicData uri="http://schemas.openxmlformats.org/drawingml/2006/table">
            <a:tbl>
              <a:tblPr firstRow="1" bandRow="1"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case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Recommended role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Transparent bookkeeping and reportable facts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hledger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app/API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REST API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Firefly III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Tax-liability scenarios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tenforty after summaries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Form-level experimentation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Filed Open Tax Engine, cautiously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Production filing or live taxpayer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 not claim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BF1FDD4-5231-4FD7-9EF3-731AB81AAAD4}"/>
              </a:ext>
            </a:extLst>
          </p:cNvPr>
          <p:cNvSpPr>
            <a:spLocks noGrp="1"/>
          </p:cNvSpPr>
          <p:nvPr/>
        </p:nvSpPr>
        <p:spPr>
          <a:xfrm>
            <a:off x="1143000" y="5524500"/>
            <a:ext cx="828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recommendation is layered, not winner-take-all.</a:t>
            </a:r>
          </a:p>
        </p:txBody>
      </p:sp>
    </p:spTree>
    <p:extLst>
      <p:ext uri="{BB962C8B-B14F-4D97-AF65-F5344CB8AC3E}">
        <p14:creationId xmlns:p14="http://schemas.microsoft.com/office/powerpoint/2010/main" val="606706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6F99132-5A51-45B7-9667-A0CD74DE7D8B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prototype tests the fact-layer thesis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DC855C-AD95-4158-B369-B1D49B0D1C3E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It proves a small, guarded integration can produce trustworthy summaries.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CFB137-E390-4123-AC7F-453F8ED8003A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A26D51-2170-492F-9874-34C00C32FAD5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5410200" cy="209550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DEE8F-180C-4DCD-94F5-A0450F5DA332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76200" cy="20955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6B1E1D-6DD4-4C93-B3E9-B5BAC9331D2F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499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Prototype claim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A2F183-3D7D-4878-9E5C-C4E1BA069571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49911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thin wrapper can validate controlled synthetic transactions, run read-only hledger reports, reconcile output, and emit normalized JSON.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91C180-5BAC-4109-8225-08DC4FE83D32}"/>
              </a:ext>
            </a:extLst>
          </p:cNvPr>
          <p:cNvSpPr>
            <a:spLocks noGrp="1"/>
          </p:cNvSpPr>
          <p:nvPr/>
        </p:nvSpPr>
        <p:spPr>
          <a:xfrm>
            <a:off x="6381750" y="2190750"/>
            <a:ext cx="5410200" cy="2095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544088-7ABB-42BB-859B-0A58AD24EE35}"/>
              </a:ext>
            </a:extLst>
          </p:cNvPr>
          <p:cNvSpPr>
            <a:spLocks noGrp="1"/>
          </p:cNvSpPr>
          <p:nvPr/>
        </p:nvSpPr>
        <p:spPr>
          <a:xfrm>
            <a:off x="6591300" y="2362200"/>
            <a:ext cx="499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it is not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AADAD6-5CCB-43ED-A25D-4BE524410A50}"/>
              </a:ext>
            </a:extLst>
          </p:cNvPr>
          <p:cNvSpPr>
            <a:spLocks noGrp="1"/>
          </p:cNvSpPr>
          <p:nvPr/>
        </p:nvSpPr>
        <p:spPr>
          <a:xfrm>
            <a:off x="6591300" y="2743200"/>
            <a:ext cx="49911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It does not calculate tax liability, decide deductibility, generate forms, estimate refunds, validate returns, or submit anything.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E4494A-D99E-428A-9149-790B31573054}"/>
              </a:ext>
            </a:extLst>
          </p:cNvPr>
          <p:cNvSpPr>
            <a:spLocks noGrp="1"/>
          </p:cNvSpPr>
          <p:nvPr/>
        </p:nvSpPr>
        <p:spPr>
          <a:xfrm>
            <a:off x="400050" y="5048250"/>
            <a:ext cx="1019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demo is evidence for integration infrastructure, not tax preparation.</a:t>
            </a:r>
          </a:p>
        </p:txBody>
      </p:sp>
    </p:spTree>
    <p:extLst>
      <p:ext uri="{BB962C8B-B14F-4D97-AF65-F5344CB8AC3E}">
        <p14:creationId xmlns:p14="http://schemas.microsoft.com/office/powerpoint/2010/main" val="177691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8A4D92C-3F05-40EA-8327-92D62C8CA8AC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adapter normalizes synthetic records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C47E2D-94EC-4DA1-A198-FD2D318EE87F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Validation and reconciliation sit around hledger, not inside it.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F4DE49-EE15-4DAE-BEE0-BFB98AED4FF4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398F9-6AEF-4C9D-A1DB-5846F4D42195}"/>
              </a:ext>
            </a:extLst>
          </p:cNvPr>
          <p:cNvSpPr>
            <a:spLocks noGrp="1"/>
          </p:cNvSpPr>
          <p:nvPr/>
        </p:nvSpPr>
        <p:spPr>
          <a:xfrm>
            <a:off x="400050" y="2343150"/>
            <a:ext cx="2156460" cy="1809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22EC4D-30A8-44C2-B76A-07527B75FF54}"/>
              </a:ext>
            </a:extLst>
          </p:cNvPr>
          <p:cNvSpPr>
            <a:spLocks noGrp="1"/>
          </p:cNvSpPr>
          <p:nvPr/>
        </p:nvSpPr>
        <p:spPr>
          <a:xfrm>
            <a:off x="533400" y="2514600"/>
            <a:ext cx="18897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Synthetic inputs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CB9E01-01F4-45CA-A18E-28276728F991}"/>
              </a:ext>
            </a:extLst>
          </p:cNvPr>
          <p:cNvSpPr>
            <a:spLocks noGrp="1"/>
          </p:cNvSpPr>
          <p:nvPr/>
        </p:nvSpPr>
        <p:spPr>
          <a:xfrm>
            <a:off x="533400" y="2971800"/>
            <a:ext cx="188976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CSV, context file, category map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D7E1F23-379B-4E80-BA06-381C4E2568CB}"/>
              </a:ext>
            </a:extLst>
          </p:cNvPr>
          <p:cNvSpPr>
            <a:spLocks noGrp="1"/>
          </p:cNvSpPr>
          <p:nvPr/>
        </p:nvSpPr>
        <p:spPr>
          <a:xfrm>
            <a:off x="2575560" y="3248025"/>
            <a:ext cx="1143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14EF3E-1361-4C53-93DA-2053CE6D708D}"/>
              </a:ext>
            </a:extLst>
          </p:cNvPr>
          <p:cNvSpPr>
            <a:spLocks noGrp="1"/>
          </p:cNvSpPr>
          <p:nvPr/>
        </p:nvSpPr>
        <p:spPr>
          <a:xfrm>
            <a:off x="2708910" y="2343150"/>
            <a:ext cx="2156460" cy="1809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793932-B348-428E-B201-ED78DE0EBF7B}"/>
              </a:ext>
            </a:extLst>
          </p:cNvPr>
          <p:cNvSpPr>
            <a:spLocks noGrp="1"/>
          </p:cNvSpPr>
          <p:nvPr/>
        </p:nvSpPr>
        <p:spPr>
          <a:xfrm>
            <a:off x="2842260" y="2514600"/>
            <a:ext cx="18897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Wrapper preflight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892CB7-473C-43E2-80EF-B69A6D5C7077}"/>
              </a:ext>
            </a:extLst>
          </p:cNvPr>
          <p:cNvSpPr>
            <a:spLocks noGrp="1"/>
          </p:cNvSpPr>
          <p:nvPr/>
        </p:nvSpPr>
        <p:spPr>
          <a:xfrm>
            <a:off x="2842260" y="2971800"/>
            <a:ext cx="188976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Dates, amounts, signs, IDs, accounts, categories, tax hints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BE9307C-4363-4638-AA92-83321832E3F4}"/>
              </a:ext>
            </a:extLst>
          </p:cNvPr>
          <p:cNvSpPr>
            <a:spLocks noGrp="1"/>
          </p:cNvSpPr>
          <p:nvPr/>
        </p:nvSpPr>
        <p:spPr>
          <a:xfrm>
            <a:off x="4884420" y="3248025"/>
            <a:ext cx="1143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A0AB07-3B28-483E-950B-556928C5A5A9}"/>
              </a:ext>
            </a:extLst>
          </p:cNvPr>
          <p:cNvSpPr>
            <a:spLocks noGrp="1"/>
          </p:cNvSpPr>
          <p:nvPr/>
        </p:nvSpPr>
        <p:spPr>
          <a:xfrm>
            <a:off x="5017770" y="2343150"/>
            <a:ext cx="2156460" cy="1809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D2D686-4D44-420F-9425-EA7B954FDB4F}"/>
              </a:ext>
            </a:extLst>
          </p:cNvPr>
          <p:cNvSpPr>
            <a:spLocks noGrp="1"/>
          </p:cNvSpPr>
          <p:nvPr/>
        </p:nvSpPr>
        <p:spPr>
          <a:xfrm>
            <a:off x="5151120" y="2514600"/>
            <a:ext cx="18897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hledger reports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A67B89-4B8A-4560-AF19-C0A4930DF1F4}"/>
              </a:ext>
            </a:extLst>
          </p:cNvPr>
          <p:cNvSpPr>
            <a:spLocks noGrp="1"/>
          </p:cNvSpPr>
          <p:nvPr/>
        </p:nvSpPr>
        <p:spPr>
          <a:xfrm>
            <a:off x="5151120" y="2971800"/>
            <a:ext cx="188976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Read-only print, balance, income statement JSON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2F8B177-7D4C-407A-AB22-F4B620F8E929}"/>
              </a:ext>
            </a:extLst>
          </p:cNvPr>
          <p:cNvSpPr>
            <a:spLocks noGrp="1"/>
          </p:cNvSpPr>
          <p:nvPr/>
        </p:nvSpPr>
        <p:spPr>
          <a:xfrm>
            <a:off x="7193280" y="3248025"/>
            <a:ext cx="1143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9B72A3-0AFE-40C9-8E8F-F837DB8E0DAF}"/>
              </a:ext>
            </a:extLst>
          </p:cNvPr>
          <p:cNvSpPr>
            <a:spLocks noGrp="1"/>
          </p:cNvSpPr>
          <p:nvPr/>
        </p:nvSpPr>
        <p:spPr>
          <a:xfrm>
            <a:off x="7326630" y="2343150"/>
            <a:ext cx="2156460" cy="1809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CED5CD-3E78-436D-8DDC-91EB8A88D86E}"/>
              </a:ext>
            </a:extLst>
          </p:cNvPr>
          <p:cNvSpPr>
            <a:spLocks noGrp="1"/>
          </p:cNvSpPr>
          <p:nvPr/>
        </p:nvSpPr>
        <p:spPr>
          <a:xfrm>
            <a:off x="7459980" y="2514600"/>
            <a:ext cx="18897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144BFC-8264-42D1-B27E-01F9BAC75ACA}"/>
              </a:ext>
            </a:extLst>
          </p:cNvPr>
          <p:cNvSpPr>
            <a:spLocks noGrp="1"/>
          </p:cNvSpPr>
          <p:nvPr/>
        </p:nvSpPr>
        <p:spPr>
          <a:xfrm>
            <a:off x="7459980" y="2971800"/>
            <a:ext cx="188976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Check postings, balances, accounts, and source amounts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FBE76FDB-5A1D-408E-B47C-071AEB5FDD08}"/>
              </a:ext>
            </a:extLst>
          </p:cNvPr>
          <p:cNvSpPr>
            <a:spLocks noGrp="1"/>
          </p:cNvSpPr>
          <p:nvPr/>
        </p:nvSpPr>
        <p:spPr>
          <a:xfrm>
            <a:off x="9502140" y="3248025"/>
            <a:ext cx="1143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55D431-A1E3-4EBC-B9C7-36C108F4E60B}"/>
              </a:ext>
            </a:extLst>
          </p:cNvPr>
          <p:cNvSpPr>
            <a:spLocks noGrp="1"/>
          </p:cNvSpPr>
          <p:nvPr/>
        </p:nvSpPr>
        <p:spPr>
          <a:xfrm>
            <a:off x="9635490" y="2343150"/>
            <a:ext cx="2156460" cy="180975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B5973E-A25B-46A3-8D2F-CFE9E69611CD}"/>
              </a:ext>
            </a:extLst>
          </p:cNvPr>
          <p:cNvSpPr>
            <a:spLocks noGrp="1"/>
          </p:cNvSpPr>
          <p:nvPr/>
        </p:nvSpPr>
        <p:spPr>
          <a:xfrm>
            <a:off x="9768840" y="2514600"/>
            <a:ext cx="18897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JSON facts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2C3773-A789-44D5-9760-E441C6762108}"/>
              </a:ext>
            </a:extLst>
          </p:cNvPr>
          <p:cNvSpPr>
            <a:spLocks noGrp="1"/>
          </p:cNvSpPr>
          <p:nvPr/>
        </p:nvSpPr>
        <p:spPr>
          <a:xfrm>
            <a:off x="9768840" y="2971800"/>
            <a:ext cx="188976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Balances, Schedule C-style summary, warnings, provenance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A89852-08FE-4758-BCA7-F0B1C5A9BEAA}"/>
              </a:ext>
            </a:extLst>
          </p:cNvPr>
          <p:cNvSpPr>
            <a:spLocks noGrp="1"/>
          </p:cNvSpPr>
          <p:nvPr/>
        </p:nvSpPr>
        <p:spPr>
          <a:xfrm>
            <a:off x="400050" y="5048250"/>
            <a:ext cx="990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Scratch-copy execution and shell=False keep the demo local and controlled.</a:t>
            </a:r>
          </a:p>
        </p:txBody>
      </p:sp>
    </p:spTree>
    <p:extLst>
      <p:ext uri="{BB962C8B-B14F-4D97-AF65-F5344CB8AC3E}">
        <p14:creationId xmlns:p14="http://schemas.microsoft.com/office/powerpoint/2010/main" val="1778312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6D62446-9999-405D-B6DE-9FE2AFD1A1DB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demo can run live or replay verified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858CE0-9872-435D-910A-EDE9AF9908A8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same reviewer story works with or without a local hledger binary.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8490C4-0B48-430B-A516-F58A448F2D15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06CFFB-0B2A-4E82-A243-37FF4B6961F1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5334000" cy="2381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FED8D-C5A5-4A58-B008-18FA95556636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Live path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2B745A-ED43-46E8-8D70-05AC55FDEEBF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python run_day20_demo.py --json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ECF2A9-B891-4353-963D-C4689A83AB1D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4667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Runs the synthetic adapter demo and the safety failure matrix from the repository root.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132768-6D9D-434A-AAF4-668AFFF4BACA}"/>
              </a:ext>
            </a:extLst>
          </p:cNvPr>
          <p:cNvSpPr>
            <a:spLocks noGrp="1"/>
          </p:cNvSpPr>
          <p:nvPr/>
        </p:nvSpPr>
        <p:spPr>
          <a:xfrm>
            <a:off x="6457950" y="2190750"/>
            <a:ext cx="5334000" cy="238125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40C306-2ED0-4D0C-BA0F-C7ED2F28ABA7}"/>
              </a:ext>
            </a:extLst>
          </p:cNvPr>
          <p:cNvSpPr>
            <a:spLocks noGrp="1"/>
          </p:cNvSpPr>
          <p:nvPr/>
        </p:nvSpPr>
        <p:spPr>
          <a:xfrm>
            <a:off x="6743700" y="247650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Replay path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447E64-742B-4677-9299-8EF614780323}"/>
              </a:ext>
            </a:extLst>
          </p:cNvPr>
          <p:cNvSpPr>
            <a:spLocks noGrp="1"/>
          </p:cNvSpPr>
          <p:nvPr/>
        </p:nvSpPr>
        <p:spPr>
          <a:xfrm>
            <a:off x="6743700" y="300990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Committed command 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BCD709-75D7-4C0B-A488-8E1F852E3997}"/>
              </a:ext>
            </a:extLst>
          </p:cNvPr>
          <p:cNvSpPr>
            <a:spLocks noGrp="1"/>
          </p:cNvSpPr>
          <p:nvPr/>
        </p:nvSpPr>
        <p:spPr>
          <a:xfrm>
            <a:off x="6743700" y="3619500"/>
            <a:ext cx="466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execution lab can animate verified command evidence when the deployed environment cannot run hledger.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F014AB-E615-4A8D-A0F8-6A8E0EAB4AAB}"/>
              </a:ext>
            </a:extLst>
          </p:cNvPr>
          <p:cNvSpPr>
            <a:spLocks noGrp="1"/>
          </p:cNvSpPr>
          <p:nvPr/>
        </p:nvSpPr>
        <p:spPr>
          <a:xfrm>
            <a:off x="400050" y="5191125"/>
            <a:ext cx="1104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54"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Narrate validation, hledger discovery, report execution, reconciliation, summary aggregation, failure matrix, and cleanup.</a:t>
            </a:r>
          </a:p>
        </p:txBody>
      </p:sp>
    </p:spTree>
    <p:extLst>
      <p:ext uri="{BB962C8B-B14F-4D97-AF65-F5344CB8AC3E}">
        <p14:creationId xmlns:p14="http://schemas.microsoft.com/office/powerpoint/2010/main" val="263673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798F6D7-8EFC-4B2E-8B89-A4E06CA8638A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35"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current demo run passes and produces inspectable facts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5DC4FC-2E67-4637-B2E0-299669CEEAED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output is useful because it is structured and bounded.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307BC1-178B-4C9E-A88D-AC3E8B0BDB5F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9F1AC-3F62-4AAC-BA15-561517520A85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1619250" cy="1238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6FD762-8C9C-496C-8422-C00972A0FD8F}"/>
              </a:ext>
            </a:extLst>
          </p:cNvPr>
          <p:cNvSpPr>
            <a:spLocks noGrp="1"/>
          </p:cNvSpPr>
          <p:nvPr/>
        </p:nvSpPr>
        <p:spPr>
          <a:xfrm>
            <a:off x="571500" y="2171700"/>
            <a:ext cx="1276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E1CD7A-AF40-42ED-ACC5-9D0EDA1B2A9D}"/>
              </a:ext>
            </a:extLst>
          </p:cNvPr>
          <p:cNvSpPr>
            <a:spLocks noGrp="1"/>
          </p:cNvSpPr>
          <p:nvPr/>
        </p:nvSpPr>
        <p:spPr>
          <a:xfrm>
            <a:off x="571500" y="2933700"/>
            <a:ext cx="12763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8923"/>
          </a:bodyPr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transactions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6E5C3-30F9-4CD6-9904-56CB698FDD07}"/>
              </a:ext>
            </a:extLst>
          </p:cNvPr>
          <p:cNvSpPr>
            <a:spLocks noGrp="1"/>
          </p:cNvSpPr>
          <p:nvPr/>
        </p:nvSpPr>
        <p:spPr>
          <a:xfrm>
            <a:off x="2209800" y="2000250"/>
            <a:ext cx="1619250" cy="1238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05558D-0EA8-4839-9AF3-E64E11F6AACA}"/>
              </a:ext>
            </a:extLst>
          </p:cNvPr>
          <p:cNvSpPr>
            <a:spLocks noGrp="1"/>
          </p:cNvSpPr>
          <p:nvPr/>
        </p:nvSpPr>
        <p:spPr>
          <a:xfrm>
            <a:off x="2381250" y="2171700"/>
            <a:ext cx="1276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C0EA28-0142-421C-B332-7BE9C264CE0F}"/>
              </a:ext>
            </a:extLst>
          </p:cNvPr>
          <p:cNvSpPr>
            <a:spLocks noGrp="1"/>
          </p:cNvSpPr>
          <p:nvPr/>
        </p:nvSpPr>
        <p:spPr>
          <a:xfrm>
            <a:off x="2381250" y="2933700"/>
            <a:ext cx="12763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8923"/>
          </a:bodyPr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postings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A71C6A-537C-4A77-B238-ADCA35FCE4AA}"/>
              </a:ext>
            </a:extLst>
          </p:cNvPr>
          <p:cNvSpPr>
            <a:spLocks noGrp="1"/>
          </p:cNvSpPr>
          <p:nvPr/>
        </p:nvSpPr>
        <p:spPr>
          <a:xfrm>
            <a:off x="4019550" y="2000250"/>
            <a:ext cx="1619250" cy="1238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DF1A39-D025-4DC5-AB8E-60F9122B892E}"/>
              </a:ext>
            </a:extLst>
          </p:cNvPr>
          <p:cNvSpPr>
            <a:spLocks noGrp="1"/>
          </p:cNvSpPr>
          <p:nvPr/>
        </p:nvSpPr>
        <p:spPr>
          <a:xfrm>
            <a:off x="4191000" y="2171700"/>
            <a:ext cx="1276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5507F7-7194-4BEA-8192-A83B02BE7999}"/>
              </a:ext>
            </a:extLst>
          </p:cNvPr>
          <p:cNvSpPr>
            <a:spLocks noGrp="1"/>
          </p:cNvSpPr>
          <p:nvPr/>
        </p:nvSpPr>
        <p:spPr>
          <a:xfrm>
            <a:off x="4191000" y="2933700"/>
            <a:ext cx="12763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8923"/>
          </a:bodyPr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accounts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BE3C95-EA9E-44FB-9579-2EB5DCC9848A}"/>
              </a:ext>
            </a:extLst>
          </p:cNvPr>
          <p:cNvSpPr>
            <a:spLocks noGrp="1"/>
          </p:cNvSpPr>
          <p:nvPr/>
        </p:nvSpPr>
        <p:spPr>
          <a:xfrm>
            <a:off x="5829300" y="2000250"/>
            <a:ext cx="2190750" cy="123825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CB4B25-EBBD-44D4-9718-50CA10641486}"/>
              </a:ext>
            </a:extLst>
          </p:cNvPr>
          <p:cNvSpPr>
            <a:spLocks noGrp="1"/>
          </p:cNvSpPr>
          <p:nvPr/>
        </p:nvSpPr>
        <p:spPr>
          <a:xfrm>
            <a:off x="6000750" y="2171700"/>
            <a:ext cx="1847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9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$8,964.77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C0FA58-F36D-4511-95C2-8E4E4B36949B}"/>
              </a:ext>
            </a:extLst>
          </p:cNvPr>
          <p:cNvSpPr>
            <a:spLocks noGrp="1"/>
          </p:cNvSpPr>
          <p:nvPr/>
        </p:nvSpPr>
        <p:spPr>
          <a:xfrm>
            <a:off x="6000750" y="2933700"/>
            <a:ext cx="18478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8923"/>
          </a:bodyPr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checking balance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91E775-BC3A-4503-AD6B-F278E85855A3}"/>
              </a:ext>
            </a:extLst>
          </p:cNvPr>
          <p:cNvSpPr>
            <a:spLocks noGrp="1"/>
          </p:cNvSpPr>
          <p:nvPr/>
        </p:nvSpPr>
        <p:spPr>
          <a:xfrm>
            <a:off x="8210550" y="2000250"/>
            <a:ext cx="2095500" cy="123825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507F96-0943-4F38-A2DC-F546FF1B1D84}"/>
              </a:ext>
            </a:extLst>
          </p:cNvPr>
          <p:cNvSpPr>
            <a:spLocks noGrp="1"/>
          </p:cNvSpPr>
          <p:nvPr/>
        </p:nvSpPr>
        <p:spPr>
          <a:xfrm>
            <a:off x="8382000" y="2171700"/>
            <a:ext cx="1752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7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15/15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6C80C2-9F74-49F9-8EBF-7866F0661A8E}"/>
              </a:ext>
            </a:extLst>
          </p:cNvPr>
          <p:cNvSpPr>
            <a:spLocks noGrp="1"/>
          </p:cNvSpPr>
          <p:nvPr/>
        </p:nvSpPr>
        <p:spPr>
          <a:xfrm>
            <a:off x="8382000" y="2933700"/>
            <a:ext cx="1752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8923"/>
          </a:bodyPr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failure matrix passed</a:t>
            </a:r>
          </a:p>
        </p:txBody>
      </p:sp>
      <p:graphicFrame>
        <p:nvGraphicFramePr>
          <p:cNvPr id="38" name="Table 37"/>
          <p:cNvGraphicFramePr/>
          <p:nvPr/>
        </p:nvGraphicFramePr>
        <p:xfrm>
          <a:off x="400050" y="3848100"/>
          <a:ext cx="11391900" cy="1676400"/>
        </p:xfrm>
        <a:graphic>
          <a:graphicData uri="http://schemas.openxmlformats.org/drawingml/2006/table">
            <a:tbl>
              <a:tblPr firstRow="1" bandRow="1"/>
              <a:tblGrid>
                <a:gridCol w="569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Summary field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local run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Bookkeeping revenue / expenses /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$10,327.75 / $1,512.98 / $8,814.77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Schedule C-style net before mileage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$9,107.02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Interest / charity / estimated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$77.75 / $370.00 / $1,050.00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hledger 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5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1.52.1, Windows x86_64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734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B0C889A-E3C6-480B-A690-E6F25C9D7307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recommended path starts with bookkeeping facts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0C7B75-594B-401F-BC5B-5B65A746B0C3}"/>
              </a:ext>
            </a:extLst>
          </p:cNvPr>
          <p:cNvSpPr>
            <a:spLocks noGrp="1"/>
          </p:cNvSpPr>
          <p:nvPr/>
        </p:nvSpPr>
        <p:spPr>
          <a:xfrm>
            <a:off x="400050" y="1590675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Tax calculation and form engines become safer after validation.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6214B3-8A68-48B7-88F5-3021D477F7B9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AD16E-2F96-4584-832D-2CED25E12BFC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2571750" cy="2381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34C022-28A1-4096-9E9D-91014F34D805}"/>
              </a:ext>
            </a:extLst>
          </p:cNvPr>
          <p:cNvSpPr>
            <a:spLocks noGrp="1"/>
          </p:cNvSpPr>
          <p:nvPr/>
        </p:nvSpPr>
        <p:spPr>
          <a:xfrm>
            <a:off x="571500" y="23622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2B69A4-3F8B-4042-869A-863737D806A7}"/>
              </a:ext>
            </a:extLst>
          </p:cNvPr>
          <p:cNvSpPr>
            <a:spLocks noGrp="1"/>
          </p:cNvSpPr>
          <p:nvPr/>
        </p:nvSpPr>
        <p:spPr>
          <a:xfrm>
            <a:off x="571500" y="2781300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hledger first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D4E2B8-F41C-4FF0-AE6E-8BB483BD6790}"/>
              </a:ext>
            </a:extLst>
          </p:cNvPr>
          <p:cNvSpPr>
            <a:spLocks noGrp="1"/>
          </p:cNvSpPr>
          <p:nvPr/>
        </p:nvSpPr>
        <p:spPr>
          <a:xfrm>
            <a:off x="571500" y="3257550"/>
            <a:ext cx="22288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Prototype-backed pattern for transparent bookkeeping and reportable facts.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FE23C6-3B94-4CFE-8F31-49D4885EF9BD}"/>
              </a:ext>
            </a:extLst>
          </p:cNvPr>
          <p:cNvSpPr>
            <a:spLocks noGrp="1"/>
          </p:cNvSpPr>
          <p:nvPr/>
        </p:nvSpPr>
        <p:spPr>
          <a:xfrm>
            <a:off x="3219450" y="2138934"/>
            <a:ext cx="2571750" cy="2381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C9AB0A-280D-44B8-AEDD-02BBD89352EA}"/>
              </a:ext>
            </a:extLst>
          </p:cNvPr>
          <p:cNvSpPr>
            <a:spLocks noGrp="1"/>
          </p:cNvSpPr>
          <p:nvPr/>
        </p:nvSpPr>
        <p:spPr>
          <a:xfrm>
            <a:off x="3390900" y="23622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C9EE67-1B7B-459F-9D21-103F1C02500A}"/>
              </a:ext>
            </a:extLst>
          </p:cNvPr>
          <p:cNvSpPr>
            <a:spLocks noGrp="1"/>
          </p:cNvSpPr>
          <p:nvPr/>
        </p:nvSpPr>
        <p:spPr>
          <a:xfrm>
            <a:off x="3390900" y="2797683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app/API backups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67CAC4-D437-46EC-A8D3-F189B56ECCB2}"/>
              </a:ext>
            </a:extLst>
          </p:cNvPr>
          <p:cNvSpPr>
            <a:spLocks noGrp="1"/>
          </p:cNvSpPr>
          <p:nvPr/>
        </p:nvSpPr>
        <p:spPr>
          <a:xfrm>
            <a:off x="3390900" y="3257550"/>
            <a:ext cx="22288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Actual for local app/API work; Firefly III for REST comparison.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F38409-94D9-43FB-8703-8638187540A1}"/>
              </a:ext>
            </a:extLst>
          </p:cNvPr>
          <p:cNvSpPr>
            <a:spLocks noGrp="1"/>
          </p:cNvSpPr>
          <p:nvPr/>
        </p:nvSpPr>
        <p:spPr>
          <a:xfrm>
            <a:off x="6038850" y="2190750"/>
            <a:ext cx="2571750" cy="2381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19AE1F-EF38-4A76-9C68-9D4259EC704F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E91769-A57C-41DB-8880-9F60F6C9C49D}"/>
              </a:ext>
            </a:extLst>
          </p:cNvPr>
          <p:cNvSpPr>
            <a:spLocks noGrp="1"/>
          </p:cNvSpPr>
          <p:nvPr/>
        </p:nvSpPr>
        <p:spPr>
          <a:xfrm>
            <a:off x="6210300" y="2781300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4280" lnSpcReduction="1000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Add tax components later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31D302-1412-4085-9D1C-911753C2532F}"/>
              </a:ext>
            </a:extLst>
          </p:cNvPr>
          <p:cNvSpPr>
            <a:spLocks noGrp="1"/>
          </p:cNvSpPr>
          <p:nvPr/>
        </p:nvSpPr>
        <p:spPr>
          <a:xfrm>
            <a:off x="6210300" y="3257550"/>
            <a:ext cx="22288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Pair summaries with tenforty; revisit Filed for cautious form-level experiments.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3A7A7C-4C58-4089-84EE-4E9A98626A28}"/>
              </a:ext>
            </a:extLst>
          </p:cNvPr>
          <p:cNvSpPr>
            <a:spLocks noGrp="1"/>
          </p:cNvSpPr>
          <p:nvPr/>
        </p:nvSpPr>
        <p:spPr>
          <a:xfrm>
            <a:off x="8858250" y="2190750"/>
            <a:ext cx="2571750" cy="2381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311EE2-C83D-421B-9A8D-D6AB32594125}"/>
              </a:ext>
            </a:extLst>
          </p:cNvPr>
          <p:cNvSpPr>
            <a:spLocks noGrp="1"/>
          </p:cNvSpPr>
          <p:nvPr/>
        </p:nvSpPr>
        <p:spPr>
          <a:xfrm>
            <a:off x="9029700" y="23622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7E4EF3-3A50-4FB3-8315-83F3A1593B11}"/>
              </a:ext>
            </a:extLst>
          </p:cNvPr>
          <p:cNvSpPr>
            <a:spLocks noGrp="1"/>
          </p:cNvSpPr>
          <p:nvPr/>
        </p:nvSpPr>
        <p:spPr>
          <a:xfrm>
            <a:off x="9029700" y="2781300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 not overclaim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B7D834-3920-47E4-8FFF-970670F78BCD}"/>
              </a:ext>
            </a:extLst>
          </p:cNvPr>
          <p:cNvSpPr>
            <a:spLocks noGrp="1"/>
          </p:cNvSpPr>
          <p:nvPr/>
        </p:nvSpPr>
        <p:spPr>
          <a:xfrm>
            <a:off x="9029700" y="3257550"/>
            <a:ext cx="22288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No production filing, tax advice, live taxpayer automation, or e-file support.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9D6473-1973-4416-8EE9-C15CBEB56745}"/>
              </a:ext>
            </a:extLst>
          </p:cNvPr>
          <p:cNvSpPr>
            <a:spLocks noGrp="1"/>
          </p:cNvSpPr>
          <p:nvPr/>
        </p:nvSpPr>
        <p:spPr>
          <a:xfrm>
            <a:off x="590550" y="5257800"/>
            <a:ext cx="1057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near-term win is trustworthy structured facts, not an automatic filing bot.</a:t>
            </a:r>
          </a:p>
        </p:txBody>
      </p:sp>
    </p:spTree>
    <p:extLst>
      <p:ext uri="{BB962C8B-B14F-4D97-AF65-F5344CB8AC3E}">
        <p14:creationId xmlns:p14="http://schemas.microsoft.com/office/powerpoint/2010/main" val="1577085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FFCE982-B31F-4207-A649-C30F29D6F70C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remaining work is clear and bounded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F493B7-3AA8-486C-8870-5E55E4553901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Publication polish should refresh evidence and expand scenarios without changing the claim.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35FC4A-80E9-4A28-A65F-98B653F3CD78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F0FDFA-32CD-4419-97D1-1969869D62D4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KNOWN LIMITS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7F139D-9BE3-4128-8479-8F1CFFB4A324}"/>
              </a:ext>
            </a:extLst>
          </p:cNvPr>
          <p:cNvSpPr>
            <a:spLocks noGrp="1"/>
          </p:cNvSpPr>
          <p:nvPr/>
        </p:nvSpPr>
        <p:spPr>
          <a:xfrm>
            <a:off x="6305550" y="20955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NEXT WORK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41F13-8BAB-431F-A5C4-F6B54BC35687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4953000" cy="15240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BD43A9-DF3E-48AE-8EAF-9E9466486925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Synthetic-only snapshot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B7E226-18AD-4064-9C64-08F5B58E1193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453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One controlled 2025 freelancer fixture; public release and health metadata should be refreshed before final publication.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CDFD06-37E8-4838-BCD2-32E473354CCA}"/>
              </a:ext>
            </a:extLst>
          </p:cNvPr>
          <p:cNvSpPr>
            <a:spLocks noGrp="1"/>
          </p:cNvSpPr>
          <p:nvPr/>
        </p:nvSpPr>
        <p:spPr>
          <a:xfrm>
            <a:off x="400050" y="4324350"/>
            <a:ext cx="4953000" cy="1428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5E8BF6-B372-401B-9008-7D2E94BC1BD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Legal and tax caveats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2CACB0-3433-44FB-B425-49676A4AFDB1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4533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License analysis is directional, and the prototype makes no tax-treatment or filing-readiness claims.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7A61DD-5ED4-4845-8D07-ADA929B6F0B5}"/>
              </a:ext>
            </a:extLst>
          </p:cNvPr>
          <p:cNvSpPr>
            <a:spLocks noGrp="1"/>
          </p:cNvSpPr>
          <p:nvPr/>
        </p:nvSpPr>
        <p:spPr>
          <a:xfrm>
            <a:off x="6305550" y="2476500"/>
            <a:ext cx="4953000" cy="1524000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995797-BA50-4AEC-830B-55E51351FB97}"/>
              </a:ext>
            </a:extLst>
          </p:cNvPr>
          <p:cNvSpPr>
            <a:spLocks noGrp="1"/>
          </p:cNvSpPr>
          <p:nvPr/>
        </p:nvSpPr>
        <p:spPr>
          <a:xfrm>
            <a:off x="6305550" y="2476500"/>
            <a:ext cx="76200" cy="15240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BA6538-E65F-433A-ABF5-E536781F1909}"/>
              </a:ext>
            </a:extLst>
          </p:cNvPr>
          <p:cNvSpPr>
            <a:spLocks noGrp="1"/>
          </p:cNvSpPr>
          <p:nvPr/>
        </p:nvSpPr>
        <p:spPr>
          <a:xfrm>
            <a:off x="6515100" y="264795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Second-stage integrations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8250CF-4065-4527-B129-F5A65D8D0B8F}"/>
              </a:ext>
            </a:extLst>
          </p:cNvPr>
          <p:cNvSpPr>
            <a:spLocks noGrp="1"/>
          </p:cNvSpPr>
          <p:nvPr/>
        </p:nvSpPr>
        <p:spPr>
          <a:xfrm>
            <a:off x="6515100" y="3028950"/>
            <a:ext cx="453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Pair hledger summaries with tenforty and revisit Filed validation/export behavior after more review.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118A75-ECF1-4141-8288-4994B29243C9}"/>
              </a:ext>
            </a:extLst>
          </p:cNvPr>
          <p:cNvSpPr>
            <a:spLocks noGrp="1"/>
          </p:cNvSpPr>
          <p:nvPr/>
        </p:nvSpPr>
        <p:spPr>
          <a:xfrm>
            <a:off x="6305550" y="4324350"/>
            <a:ext cx="4953000" cy="1428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CA0AD6-4A07-490F-85FA-8844BF3EB739}"/>
              </a:ext>
            </a:extLst>
          </p:cNvPr>
          <p:cNvSpPr>
            <a:spLocks noGrp="1"/>
          </p:cNvSpPr>
          <p:nvPr/>
        </p:nvSpPr>
        <p:spPr>
          <a:xfrm>
            <a:off x="6515100" y="4495800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Stronger evidence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6DC8A9-4ED4-4B05-A6A5-8F5D6DA2AF8B}"/>
              </a:ext>
            </a:extLst>
          </p:cNvPr>
          <p:cNvSpPr>
            <a:spLocks noGrp="1"/>
          </p:cNvSpPr>
          <p:nvPr/>
        </p:nvSpPr>
        <p:spPr>
          <a:xfrm>
            <a:off x="6515100" y="4876800"/>
            <a:ext cx="4533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Add execution-lab screenshots, expand synthetic datasets, and analyze GPL/AGPL deployment implications.</a:t>
            </a:r>
          </a:p>
        </p:txBody>
      </p:sp>
    </p:spTree>
    <p:extLst>
      <p:ext uri="{BB962C8B-B14F-4D97-AF65-F5344CB8AC3E}">
        <p14:creationId xmlns:p14="http://schemas.microsoft.com/office/powerpoint/2010/main" val="474485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AB79BEC-5542-4849-AF92-2B04F8FE3F1F}"/>
              </a:ext>
            </a:extLst>
          </p:cNvPr>
          <p:cNvSpPr>
            <a:spLocks noGrp="1"/>
          </p:cNvSpPr>
          <p:nvPr/>
        </p:nvSpPr>
        <p:spPr>
          <a:xfrm>
            <a:off x="400050" y="64770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4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the project proves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5E20A6-A901-464E-B27B-C086C2FA7CA1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99060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466"/>
          </a:bodyPr>
          <a:lstStyle/>
          <a:p>
            <a:pPr algn="l">
              <a:lnSpc>
                <a:spcPct val="102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fragmented open-source ecosystem can still support useful integration when the boundary is honest and the facts are validated.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2E0A81-DBE5-4C01-8680-ECEF01AB7DC9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2374900" cy="1285875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D01229-D4FA-490F-B879-00CCFA42CD90}"/>
              </a:ext>
            </a:extLst>
          </p:cNvPr>
          <p:cNvSpPr>
            <a:spLocks noGrp="1"/>
          </p:cNvSpPr>
          <p:nvPr/>
        </p:nvSpPr>
        <p:spPr>
          <a:xfrm>
            <a:off x="533400" y="4267200"/>
            <a:ext cx="210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Mapped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E400DC-F6F3-4D4B-90DC-C7806F6E62D2}"/>
              </a:ext>
            </a:extLst>
          </p:cNvPr>
          <p:cNvSpPr>
            <a:spLocks noGrp="1"/>
          </p:cNvSpPr>
          <p:nvPr/>
        </p:nvSpPr>
        <p:spPr>
          <a:xfrm>
            <a:off x="533400" y="4724400"/>
            <a:ext cx="21082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Landscape by integration role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75024EDE-F708-425F-AA28-E75125E951C0}"/>
              </a:ext>
            </a:extLst>
          </p:cNvPr>
          <p:cNvSpPr>
            <a:spLocks noGrp="1"/>
          </p:cNvSpPr>
          <p:nvPr/>
        </p:nvSpPr>
        <p:spPr>
          <a:xfrm>
            <a:off x="2794000" y="4738688"/>
            <a:ext cx="1143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D43A85-0C40-4FFE-9791-50325028308E}"/>
              </a:ext>
            </a:extLst>
          </p:cNvPr>
          <p:cNvSpPr>
            <a:spLocks noGrp="1"/>
          </p:cNvSpPr>
          <p:nvPr/>
        </p:nvSpPr>
        <p:spPr>
          <a:xfrm>
            <a:off x="2927350" y="4095750"/>
            <a:ext cx="2374900" cy="1285875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4B2974-4065-4015-AB69-A57DF6A35781}"/>
              </a:ext>
            </a:extLst>
          </p:cNvPr>
          <p:cNvSpPr>
            <a:spLocks noGrp="1"/>
          </p:cNvSpPr>
          <p:nvPr/>
        </p:nvSpPr>
        <p:spPr>
          <a:xfrm>
            <a:off x="3060700" y="4267200"/>
            <a:ext cx="210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F06341-2B4C-4C7B-AA8C-511879D05A4E}"/>
              </a:ext>
            </a:extLst>
          </p:cNvPr>
          <p:cNvSpPr>
            <a:spLocks noGrp="1"/>
          </p:cNvSpPr>
          <p:nvPr/>
        </p:nvSpPr>
        <p:spPr>
          <a:xfrm>
            <a:off x="3060700" y="4724400"/>
            <a:ext cx="21082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Five tools on shared synthetic evidence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45202ED-F809-4EAA-8C00-4D96DC8E41E9}"/>
              </a:ext>
            </a:extLst>
          </p:cNvPr>
          <p:cNvSpPr>
            <a:spLocks noGrp="1"/>
          </p:cNvSpPr>
          <p:nvPr/>
        </p:nvSpPr>
        <p:spPr>
          <a:xfrm>
            <a:off x="5321300" y="4738688"/>
            <a:ext cx="1143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9CDA6F-8E0E-4EEA-9AD5-B916491665C7}"/>
              </a:ext>
            </a:extLst>
          </p:cNvPr>
          <p:cNvSpPr>
            <a:spLocks noGrp="1"/>
          </p:cNvSpPr>
          <p:nvPr/>
        </p:nvSpPr>
        <p:spPr>
          <a:xfrm>
            <a:off x="5454650" y="4095750"/>
            <a:ext cx="2374900" cy="1285875"/>
          </a:xfrm>
          <a:prstGeom prst="rect">
            <a:avLst/>
          </a:prstGeom>
          <a:solidFill>
            <a:srgbClr val="FFF0E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186C3B-B3B6-4CA2-978E-1DF90E02036C}"/>
              </a:ext>
            </a:extLst>
          </p:cNvPr>
          <p:cNvSpPr>
            <a:spLocks noGrp="1"/>
          </p:cNvSpPr>
          <p:nvPr/>
        </p:nvSpPr>
        <p:spPr>
          <a:xfrm>
            <a:off x="5588000" y="4267200"/>
            <a:ext cx="210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Built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7805FD-AA13-4136-B265-7F63AF4B0632}"/>
              </a:ext>
            </a:extLst>
          </p:cNvPr>
          <p:cNvSpPr>
            <a:spLocks noGrp="1"/>
          </p:cNvSpPr>
          <p:nvPr/>
        </p:nvSpPr>
        <p:spPr>
          <a:xfrm>
            <a:off x="5588000" y="4724400"/>
            <a:ext cx="21082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hledger adapter with guarded JSON output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11644E-4DCB-4AFF-B06D-91F87FA7CBB5}"/>
              </a:ext>
            </a:extLst>
          </p:cNvPr>
          <p:cNvSpPr>
            <a:spLocks noGrp="1"/>
          </p:cNvSpPr>
          <p:nvPr/>
        </p:nvSpPr>
        <p:spPr>
          <a:xfrm>
            <a:off x="8210550" y="44386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python run_day20_demo.py --json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1F7BBC-7AF7-4C42-AB8C-9F94CF627663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230908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2310</Words>
  <Application>Microsoft Office PowerPoint</Application>
  <DocSecurity>0</DocSecurity>
  <PresentationFormat>Widescreen</PresentationFormat>
  <Paragraphs>296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Sameer Nagar</cp:lastModifiedBy>
  <cp:revision>1</cp:revision>
  <dcterms:created xsi:type="dcterms:W3CDTF">2026-07-20T01:59:34Z</dcterms:created>
  <dcterms:modified xsi:type="dcterms:W3CDTF">2026-07-22T03:32:25Z</dcterms:modified>
</cp:coreProperties>
</file>