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a0b180f4d34fbe" /><Relationship Type="http://schemas.openxmlformats.org/officeDocument/2006/relationships/extended-properties" Target="/docProps/app.xml" Id="R550faada2f734c27" /><Relationship Type="http://schemas.openxmlformats.org/officeDocument/2006/relationships/officeDocument" Target="/ppt/presentation.xml" Id="Rd7a7afdc514948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14f24907a6439c"/>
  </p:sldMasterIdLst>
  <p:notesMasterIdLst>
    <p:notesMasterId xmlns:r="http://schemas.openxmlformats.org/officeDocument/2006/relationships" r:id="R7d5bf8bd1b1d4893"/>
  </p:notesMasterIdLst>
  <p:sldIdLst>
    <p:sldId xmlns:r="http://schemas.openxmlformats.org/officeDocument/2006/relationships" id="256" r:id="R708dcd323f88441b"/>
    <p:sldId xmlns:r="http://schemas.openxmlformats.org/officeDocument/2006/relationships" id="257" r:id="R91c238b9007c4109"/>
    <p:sldId xmlns:r="http://schemas.openxmlformats.org/officeDocument/2006/relationships" id="258" r:id="R9c329e349d2c43ae"/>
    <p:sldId xmlns:r="http://schemas.openxmlformats.org/officeDocument/2006/relationships" id="259" r:id="R4594cd125497430a"/>
    <p:sldId xmlns:r="http://schemas.openxmlformats.org/officeDocument/2006/relationships" id="260" r:id="R7b80f46473de4710"/>
    <p:sldId xmlns:r="http://schemas.openxmlformats.org/officeDocument/2006/relationships" id="261" r:id="R2625009ce9a34fe9"/>
    <p:sldId xmlns:r="http://schemas.openxmlformats.org/officeDocument/2006/relationships" id="262" r:id="Rb2a4878ef9d04841"/>
    <p:sldId xmlns:r="http://schemas.openxmlformats.org/officeDocument/2006/relationships" id="263" r:id="R5ee0068cc1a942f0"/>
    <p:sldId xmlns:r="http://schemas.openxmlformats.org/officeDocument/2006/relationships" id="264" r:id="Rde8675ea6e064807"/>
    <p:sldId xmlns:r="http://schemas.openxmlformats.org/officeDocument/2006/relationships" id="265" r:id="R5697085d123b48ae"/>
    <p:sldId xmlns:r="http://schemas.openxmlformats.org/officeDocument/2006/relationships" id="266" r:id="R856e659d081a441d"/>
    <p:sldId xmlns:r="http://schemas.openxmlformats.org/officeDocument/2006/relationships" id="267" r:id="Rd9d2f0675ff44b4e"/>
    <p:sldId xmlns:r="http://schemas.openxmlformats.org/officeDocument/2006/relationships" id="268" r:id="R0a33d1ccacd44644"/>
    <p:sldId xmlns:r="http://schemas.openxmlformats.org/officeDocument/2006/relationships" id="269" r:id="R3a85023ec59e41d6"/>
    <p:sldId xmlns:r="http://schemas.openxmlformats.org/officeDocument/2006/relationships" id="270" r:id="Rfbb5913e57d6418a"/>
    <p:sldId xmlns:r="http://schemas.openxmlformats.org/officeDocument/2006/relationships" id="271" r:id="Ra5784fca4e69427b"/>
    <p:sldId xmlns:r="http://schemas.openxmlformats.org/officeDocument/2006/relationships" id="272" r:id="R12cffd6cfc3a452c"/>
    <p:sldId xmlns:r="http://schemas.openxmlformats.org/officeDocument/2006/relationships" id="273" r:id="R68f795f1933a42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1c20df0b574db4" /><Relationship Type="http://schemas.openxmlformats.org/officeDocument/2006/relationships/slideMaster" Target="/ppt/slideMasters/slideMaster1.xml" Id="R2f14f24907a6439c" /><Relationship Type="http://schemas.openxmlformats.org/officeDocument/2006/relationships/notesMaster" Target="/ppt/notesMasters/notesMaster1.xml" Id="R7d5bf8bd1b1d4893" /><Relationship Type="http://schemas.openxmlformats.org/officeDocument/2006/relationships/presProps" Target="/ppt/presProps.xml" Id="Re9d2393f779e492e" /><Relationship Type="http://schemas.openxmlformats.org/officeDocument/2006/relationships/tableStyles" Target="/ppt/tableStyles.xml" Id="R1d3a68a0ead54c1c" /><Relationship Type="http://schemas.openxmlformats.org/officeDocument/2006/relationships/slide" Target="/ppt/slides/slide1.xml" Id="R708dcd323f88441b" /><Relationship Type="http://schemas.openxmlformats.org/officeDocument/2006/relationships/slide" Target="/ppt/slides/slide2.xml" Id="R91c238b9007c4109" /><Relationship Type="http://schemas.openxmlformats.org/officeDocument/2006/relationships/slide" Target="/ppt/slides/slide3.xml" Id="R9c329e349d2c43ae" /><Relationship Type="http://schemas.openxmlformats.org/officeDocument/2006/relationships/slide" Target="/ppt/slides/slide4.xml" Id="R4594cd125497430a" /><Relationship Type="http://schemas.openxmlformats.org/officeDocument/2006/relationships/slide" Target="/ppt/slides/slide5.xml" Id="R7b80f46473de4710" /><Relationship Type="http://schemas.openxmlformats.org/officeDocument/2006/relationships/slide" Target="/ppt/slides/slide6.xml" Id="R2625009ce9a34fe9" /><Relationship Type="http://schemas.openxmlformats.org/officeDocument/2006/relationships/slide" Target="/ppt/slides/slide7.xml" Id="Rb2a4878ef9d04841" /><Relationship Type="http://schemas.openxmlformats.org/officeDocument/2006/relationships/slide" Target="/ppt/slides/slide8.xml" Id="R5ee0068cc1a942f0" /><Relationship Type="http://schemas.openxmlformats.org/officeDocument/2006/relationships/slide" Target="/ppt/slides/slide9.xml" Id="Rde8675ea6e064807" /><Relationship Type="http://schemas.openxmlformats.org/officeDocument/2006/relationships/slide" Target="/ppt/slides/slide10.xml" Id="R5697085d123b48ae" /><Relationship Type="http://schemas.openxmlformats.org/officeDocument/2006/relationships/slide" Target="/ppt/slides/slide11.xml" Id="R856e659d081a441d" /><Relationship Type="http://schemas.openxmlformats.org/officeDocument/2006/relationships/slide" Target="/ppt/slides/slide12.xml" Id="Rd9d2f0675ff44b4e" /><Relationship Type="http://schemas.openxmlformats.org/officeDocument/2006/relationships/slide" Target="/ppt/slides/slide13.xml" Id="R0a33d1ccacd44644" /><Relationship Type="http://schemas.openxmlformats.org/officeDocument/2006/relationships/slide" Target="/ppt/slides/slide14.xml" Id="R3a85023ec59e41d6" /><Relationship Type="http://schemas.openxmlformats.org/officeDocument/2006/relationships/slide" Target="/ppt/slides/slide15.xml" Id="Rfbb5913e57d6418a" /><Relationship Type="http://schemas.openxmlformats.org/officeDocument/2006/relationships/slide" Target="/ppt/slides/slide16.xml" Id="Ra5784fca4e69427b" /><Relationship Type="http://schemas.openxmlformats.org/officeDocument/2006/relationships/slide" Target="/ppt/slides/slide17.xml" Id="R12cffd6cfc3a452c" /><Relationship Type="http://schemas.openxmlformats.org/officeDocument/2006/relationships/slide" Target="/ppt/slides/slide18.xml" Id="R68f795f1933a42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af09219c7049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327c36e2cd451f" /><Relationship Type="http://schemas.openxmlformats.org/officeDocument/2006/relationships/notesMaster" Target="/ppt/notesMasters/notesMaster1.xml" Id="Rbb35d1b2397f4b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226669e2c84d85" /><Relationship Type="http://schemas.openxmlformats.org/officeDocument/2006/relationships/notesMaster" Target="/ppt/notesMasters/notesMaster1.xml" Id="R8bf0115ffeb141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eecba3367a4610" /><Relationship Type="http://schemas.openxmlformats.org/officeDocument/2006/relationships/notesMaster" Target="/ppt/notesMasters/notesMaster1.xml" Id="Rb1f212ca4cb746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f2b1d7d8244e8c" /><Relationship Type="http://schemas.openxmlformats.org/officeDocument/2006/relationships/notesMaster" Target="/ppt/notesMasters/notesMaster1.xml" Id="Rb4e84351fcee41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fcbdc700df4b91" /><Relationship Type="http://schemas.openxmlformats.org/officeDocument/2006/relationships/notesMaster" Target="/ppt/notesMasters/notesMaster1.xml" Id="R6ee65c92663b42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2d9bc38bac4b9c" /><Relationship Type="http://schemas.openxmlformats.org/officeDocument/2006/relationships/notesMaster" Target="/ppt/notesMasters/notesMaster1.xml" Id="R0d480bb1acbb4a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72374daf7b4335" /><Relationship Type="http://schemas.openxmlformats.org/officeDocument/2006/relationships/notesMaster" Target="/ppt/notesMasters/notesMaster1.xml" Id="Rfe7f89ec3a7c4e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70dd3af6684d7c" /><Relationship Type="http://schemas.openxmlformats.org/officeDocument/2006/relationships/notesMaster" Target="/ppt/notesMasters/notesMaster1.xml" Id="Re1b447e9200e46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f4437332ae4aeb" /><Relationship Type="http://schemas.openxmlformats.org/officeDocument/2006/relationships/notesMaster" Target="/ppt/notesMasters/notesMaster1.xml" Id="Rb3955845abad4a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6a9ddcaf284cab" /><Relationship Type="http://schemas.openxmlformats.org/officeDocument/2006/relationships/notesMaster" Target="/ppt/notesMasters/notesMaster1.xml" Id="R4bbce4e11b2546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3de20a9fe84c66" /><Relationship Type="http://schemas.openxmlformats.org/officeDocument/2006/relationships/notesMaster" Target="/ppt/notesMasters/notesMaster1.xml" Id="Re90e239efc2c46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53bd2b92084806" /><Relationship Type="http://schemas.openxmlformats.org/officeDocument/2006/relationships/notesMaster" Target="/ppt/notesMasters/notesMaster1.xml" Id="Rd9d9af9b85874b2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7629f53d1f24528" /><Relationship Type="http://schemas.openxmlformats.org/officeDocument/2006/relationships/notesMaster" Target="/ppt/notesMasters/notesMaster1.xml" Id="Ra4064d433ec74c7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1def0eec1b4ab1" /><Relationship Type="http://schemas.openxmlformats.org/officeDocument/2006/relationships/notesMaster" Target="/ppt/notesMasters/notesMaster1.xml" Id="R2590c96d015545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03bac3eceae4766" /><Relationship Type="http://schemas.openxmlformats.org/officeDocument/2006/relationships/notesMaster" Target="/ppt/notesMasters/notesMaster1.xml" Id="Rb6f3732987814e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5d2d6c40524333" /><Relationship Type="http://schemas.openxmlformats.org/officeDocument/2006/relationships/notesMaster" Target="/ppt/notesMasters/notesMaster1.xml" Id="Ra26516e47bca4d9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5b066693a594fce" /><Relationship Type="http://schemas.openxmlformats.org/officeDocument/2006/relationships/notesMaster" Target="/ppt/notesMasters/notesMaster1.xml" Id="Rad0765716935434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1b4c34c29fc45a2" /><Relationship Type="http://schemas.openxmlformats.org/officeDocument/2006/relationships/notesMaster" Target="/ppt/notesMasters/notesMaster1.xml" Id="Rb45d15f6c29b48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Audience: mentor, reviewer, or portfolio viewer who understands software integration but may not know the tax-tooling ecosystem.</a:t>
            </a:r>
          </a:p>
          <a:p xmlns:a="http://schemas.openxmlformats.org/drawingml/2006/main">
            <a:r>
              <a:t>Communication job: by the end, the audience should understand why the project recommends a guarded bookkeeping fact layer because the evaluated tools solve different parts of the chain.</a:t>
            </a:r>
          </a:p>
          <a:p xmlns:a="http://schemas.openxmlformats.org/drawingml/2006/main">
            <a:r>
              <a:t>Sources: README.md, report/full_report_draft.md, deck/outline.md.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separate tooling research from tax-prep product claims.</a:t>
            </a:r>
          </a:p>
          <a:p xmlns:a="http://schemas.openxmlformats.org/drawingml/2006/main">
            <a:r>
              <a:t>Sources: README.md, codex_execution_plan_ai_tax_tooling.md.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this boundary explicit early; later prototype claims depend on it.</a:t>
            </a:r>
          </a:p>
          <a:p xmlns:a="http://schemas.openxmlformats.org/drawingml/2006/main">
            <a:r>
              <a:t>Sources: report/full_report_draft.md, prototype/README.md.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from question to evidence method.</a:t>
            </a:r>
          </a:p>
          <a:p xmlns:a="http://schemas.openxmlformats.org/drawingml/2006/main">
            <a:r>
              <a:t>Sources: research/longlist.md, research/project_health_snapshot.md, research/programmatic_surface_survey.md, research/shortlist.md, research/evaluation_checklist.md.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comparing tools by layer is more useful than ranking by popularity.</a:t>
            </a:r>
          </a:p>
          <a:p xmlns:a="http://schemas.openxmlformats.org/drawingml/2006/main">
            <a:r>
              <a:t>Sources: report/full_report_draft.md, research/programmatic_surface_survey.md.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each tool as a representative role.</a:t>
            </a:r>
          </a:p>
          <a:p xmlns:a="http://schemas.openxmlformats.org/drawingml/2006/main">
            <a:r>
              <a:t>Sources: research/shortlist.md, tool_records/tool_1.md through tool_records/tool_5.md.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numbers to make the demo output feel grounded.</a:t>
            </a:r>
          </a:p>
          <a:p xmlns:a="http://schemas.openxmlformats.org/drawingml/2006/main">
            <a:r>
              <a:t>Sources: evidence/synthetic_dataset.md, evidence/fixtures/synthetic_freelancer_transactions.csv.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Bookkeeping tools are the strongest place to start the integration.</a:t>
            </a:r>
          </a:p>
          <a:p xmlns:a="http://schemas.openxmlformats.org/drawingml/2006/main">
            <a:r>
              <a:t>Sources: tool_records/tool_1.md, tool_records/tool_2.md, tool_records/tool_3.md, research/comparison_matrix.md.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sets up the architecture answer: do not start with a form engine as the first integration layer.</a:t>
            </a:r>
          </a:p>
          <a:p xmlns:a="http://schemas.openxmlformats.org/drawingml/2006/main">
            <a:r>
              <a:t>Sources: tool_records/tool_4.md, tool_records/tool_5.md, report/full_report_draft.md.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report's main finding plainly.</a:t>
            </a:r>
          </a:p>
          <a:p xmlns:a="http://schemas.openxmlformats.org/drawingml/2006/main">
            <a:r>
              <a:t>Sources: report/full_report_draft.md, research/comparison_matrix.md.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scan-friendly comparison slide before the prototype.</a:t>
            </a:r>
          </a:p>
          <a:p xmlns:a="http://schemas.openxmlformats.org/drawingml/2006/main">
            <a:r>
              <a:t>Sources: report/full_report_draft.md, report/comparison_recommendation_draft.md.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pivot into the demo.</a:t>
            </a:r>
          </a:p>
          <a:p xmlns:a="http://schemas.openxmlformats.org/drawingml/2006/main">
            <a:r>
              <a:t>Sources: prototype/design.md, prototype/README.md, report/prototype_writeup_draft.md.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architecture before showing output.</a:t>
            </a:r>
          </a:p>
          <a:p xmlns:a="http://schemas.openxmlformats.org/drawingml/2006/main">
            <a:r>
              <a:t>Sources: prototype/design.md, prototype/hledger_adapter/, prototype/execution_lab/.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demo: run `python run_day20_demo.py --json` locally. UI alternative: prototype/execution_lab/ with /api/run. Fallback: verified replay from evidence/commands.</a:t>
            </a:r>
          </a:p>
          <a:p xmlns:a="http://schemas.openxmlformats.org/drawingml/2006/main">
            <a:r>
              <a:t>Sources: run_day20_demo.py, prototype/execution_lab/, evidence/commands/07-13-2026_hledger-adapter_day18_summary.txt, evidence/commands/07-13-2026_hledger-adapter_day19_failures.txt.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values come from the Day 29 local run of `python run_day20_demo.py --json`.</a:t>
            </a:r>
          </a:p>
          <a:p xmlns:a="http://schemas.openxmlformats.org/drawingml/2006/main">
            <a:r>
              <a:t>Sources: prototype/run_day20_demo.py, prototype/tests/run_failure_matrix.py, report/full_report_draft.md.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final recommendation slide.</a:t>
            </a:r>
          </a:p>
          <a:p xmlns:a="http://schemas.openxmlformats.org/drawingml/2006/main">
            <a:r>
              <a:t>Sources: report/full_report_draft.md, research/prototype_target_decision.md.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show the project is honest about residual risk.</a:t>
            </a:r>
          </a:p>
          <a:p xmlns:a="http://schemas.openxmlformats.org/drawingml/2006/main">
            <a:r>
              <a:t>Sources: report/full_report_draft.md, prototype/retrospective.md.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 question: useful integration exists, but the safe architectural unit is the fact layer.</a:t>
            </a:r>
          </a:p>
          <a:p xmlns:a="http://schemas.openxmlformats.org/drawingml/2006/main">
            <a:r>
              <a:t>Sources: report/full_report_draft.md, prototype/README.md.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161dced1f45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979af36f1f4124" /><Relationship Type="http://schemas.openxmlformats.org/officeDocument/2006/relationships/slideLayout" Target="/ppt/slideLayouts/slideLayout1.xml" Id="R5954ad1bce1c4d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54ad1bce1c4d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d211d7d894f82" /><Relationship Type="http://schemas.openxmlformats.org/officeDocument/2006/relationships/notesSlide" Target="/ppt/notesSlides/notesSlide1.xml" Id="R8a8ec3f1ca6241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7783e588e4849" /><Relationship Type="http://schemas.openxmlformats.org/officeDocument/2006/relationships/notesSlide" Target="/ppt/notesSlides/notesSlide2.xml" Id="R0478f679c8fa49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8468c97bd4594" /><Relationship Type="http://schemas.openxmlformats.org/officeDocument/2006/relationships/notesSlide" Target="/ppt/notesSlides/notesSlide3.xml" Id="Rc6cdb0a330eb49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99720936140ff" /><Relationship Type="http://schemas.openxmlformats.org/officeDocument/2006/relationships/notesSlide" Target="/ppt/notesSlides/notesSlide4.xml" Id="Rf889ee2e32d14e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6ba55397854522" /><Relationship Type="http://schemas.openxmlformats.org/officeDocument/2006/relationships/notesSlide" Target="/ppt/notesSlides/notesSlide5.xml" Id="R435c41ebfa6543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d5f1b56ad48ef" /><Relationship Type="http://schemas.openxmlformats.org/officeDocument/2006/relationships/notesSlide" Target="/ppt/notesSlides/notesSlide6.xml" Id="Rd5e92ac3cd2940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e506e4ee9440e" /><Relationship Type="http://schemas.openxmlformats.org/officeDocument/2006/relationships/notesSlide" Target="/ppt/notesSlides/notesSlide7.xml" Id="R9901748aeb2d49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0c0362cdf464c" /><Relationship Type="http://schemas.openxmlformats.org/officeDocument/2006/relationships/notesSlide" Target="/ppt/notesSlides/notesSlide8.xml" Id="Rf87abb8d0dd54e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8ae23c5294a72" /><Relationship Type="http://schemas.openxmlformats.org/officeDocument/2006/relationships/notesSlide" Target="/ppt/notesSlides/notesSlide9.xml" Id="R45c32927f7e848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286000ce94ecc" /><Relationship Type="http://schemas.openxmlformats.org/officeDocument/2006/relationships/notesSlide" Target="/ppt/notesSlides/notesSlide10.xml" Id="R2f2b99c39a0749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5e83cb30240ec" /><Relationship Type="http://schemas.openxmlformats.org/officeDocument/2006/relationships/notesSlide" Target="/ppt/notesSlides/notesSlide11.xml" Id="R4ffa8454a3134a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cf28498ee4474" /><Relationship Type="http://schemas.openxmlformats.org/officeDocument/2006/relationships/notesSlide" Target="/ppt/notesSlides/notesSlide12.xml" Id="R34ff771f78fd418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9e807449e4475" /><Relationship Type="http://schemas.openxmlformats.org/officeDocument/2006/relationships/notesSlide" Target="/ppt/notesSlides/notesSlide13.xml" Id="R0ec308fa468541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64659c44a4180" /><Relationship Type="http://schemas.openxmlformats.org/officeDocument/2006/relationships/notesSlide" Target="/ppt/notesSlides/notesSlide14.xml" Id="Rfbfb72089b89460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a6285029c48c1" /><Relationship Type="http://schemas.openxmlformats.org/officeDocument/2006/relationships/notesSlide" Target="/ppt/notesSlides/notesSlide15.xml" Id="Ra74427286dbe45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6db3ea3034f5a" /><Relationship Type="http://schemas.openxmlformats.org/officeDocument/2006/relationships/notesSlide" Target="/ppt/notesSlides/notesSlide16.xml" Id="R97e1874e52d14e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525a18ca0493f" /><Relationship Type="http://schemas.openxmlformats.org/officeDocument/2006/relationships/notesSlide" Target="/ppt/notesSlides/notesSlide17.xml" Id="Rc9480ccd92b94ad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ce0e0b18f479e" /><Relationship Type="http://schemas.openxmlformats.org/officeDocument/2006/relationships/notesSlide" Target="/ppt/notesSlides/notesSlide18.xml" Id="Rfa73ef97798d46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F99532-F73C-4A49-B2D1-087F6E9B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62000"/>
            <a:ext cx="866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5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Open-source tax tooling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E6453-0CFC-4384-A899-C2E35751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876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4050" b="0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What can actually be integrated?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856AB-775A-4F1A-9D99-E1316556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67200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 July 2026 AI engineering internship project on consumer tax-adjacent tools, synthetic data, and programmatic surfaces.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C2EC7-1DE0-4BCF-95AF-9A035B5E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00500"/>
            <a:ext cx="1727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05E6B-3AEE-4CFE-842C-9D865283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171950"/>
            <a:ext cx="146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30929-8B02-4D0E-BC71-2B350CB8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629150"/>
            <a:ext cx="146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Bookkeeping and personal finance inputs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53F53-267C-4405-AF68-95D7943D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800" y="46196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43FBA-712C-47B9-BA49-FD7DE658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4000500"/>
            <a:ext cx="1727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C8496A-4934-45E6-9DE9-0FEB3277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171950"/>
            <a:ext cx="146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Facts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DE9C2F-3E8E-4A74-A113-2E2C01C0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629150"/>
            <a:ext cx="146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Validated summaries with provenance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F5EB1-2B05-45CC-8C2E-2D734B9A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400" y="46196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D0CBA-FCD1-473F-8400-3A515D23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750" y="4000500"/>
            <a:ext cx="1727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D18847-A2BC-4997-B37F-E6C9A0E6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7100" y="4171950"/>
            <a:ext cx="146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Tax-aware tools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3B77BB-6F0C-4DD2-A599-0374EB91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7100" y="4629150"/>
            <a:ext cx="146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Later calculation or form experiments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113D0-BF11-4F7E-80C2-EAA6F891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624280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62814C-6C5F-4DF6-BD6C-842C9425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is not whether tools exist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2B05B-8ACE-4E79-813D-AF8C5BF6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useful question is which ones can be safely driven from code.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7856-CF76-4129-BC41-7126B69A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DD321-59E9-490E-BABA-A8B10974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342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1AD41-0375-4D03-B149-30FFE825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Ecosystem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6A268-CDC7-4DF0-9883-9673E58E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009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What open-source tools exist for consumer or freelancer tax-adjacent work?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EC0D8-1BC5-460D-A067-D9E5727E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342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86DB4E-D494-4C1B-9DDC-D637AF17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6D03D2-E812-4B53-AABF-8D77AE65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90825"/>
            <a:ext cx="3009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Can a tool be reached through a CLI, API, REST endpoint, file format, schema, library, or export?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4BB63C-8D59-4D52-AC7D-6B68A34F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38375"/>
            <a:ext cx="342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E33F0F-2154-4DE2-9F62-50809B2C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3837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40BFF-B7D2-4CC1-924F-6A734320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9825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30B89A-6C0C-4F1A-8CE1-6F7B28FB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90825"/>
            <a:ext cx="3009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What can be automated without pretending to prepare, validate, or file a tax return?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EE71A-16CB-4878-9D37-A8CB21D8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project studies integration feasibility, not production tax preparation.</a:t>
            </a:r>
          </a:p>
        </p:txBody>
      </p:sp>
    </p:spTree>
    <p:extLst>
      <p:ext uri="{BB962C8B-B14F-4D97-AF65-F5344CB8AC3E}">
        <p14:creationId xmlns:p14="http://schemas.microsoft.com/office/powerpoint/2010/main" val="8952798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8E05E3-23AA-4DE3-885B-FD124945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safety boundary shapes every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C3DFE4-62B2-40DE-812A-3D0BBA65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repository is synthetic-only and the prototype avoids filing claims.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F60DF-C95B-47E7-A26D-5FF78318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5C277-7402-40E6-8758-5515A029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 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D7B4B-4295-4F94-B4C5-038B418C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33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OUT OF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A40BD-37AC-49DB-8193-B1C3FD54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4953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47101-A322-4B55-A71A-9132A0BB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2CC25-BBBA-425B-BE50-07ABA002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Synthetic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4C2D4-CF85-4FBA-BE68-022779A1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4533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Fictional 2025 freelancer transactions, category mappings, command evidence, and normalized summaries.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ABDB0D-DB81-4499-9E4F-D80AB20E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CAB80-EEFA-4E99-A35D-3BFFDAAC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Reviewer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FAB496-331C-4E00-B4C1-2BC86997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Run or replay the adapter, inspect evidence, and see how facts move through validation.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4B269-1DB4-4C0C-8F8C-3792E74F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76500"/>
            <a:ext cx="4953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23FC1-C20B-42B5-8BB3-8C2A88B7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795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Tax preparation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0B0C7A-A4AC-455E-B56C-00EADF3A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28950"/>
            <a:ext cx="4533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liability calculation, return validation, Form 1040 generation, PDF output, MeF readiness, or e-file submission.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C16164-2608-48AA-9176-74AC0661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38650"/>
            <a:ext cx="4953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84EA91-C208-4145-8A3B-238375C7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1010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Real taxpayer automation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7269DF-4F73-4A78-B2C9-30889ABE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9110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real taxpayer data, bank data, PII, secrets, or live filing credentials belong in the project.</a:t>
            </a:r>
          </a:p>
        </p:txBody>
      </p:sp>
    </p:spTree>
    <p:extLst>
      <p:ext uri="{BB962C8B-B14F-4D97-AF65-F5344CB8AC3E}">
        <p14:creationId xmlns:p14="http://schemas.microsoft.com/office/powerpoint/2010/main" val="1756896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23176F-58DF-472B-8BEB-80525D74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Evidence narrows the field before the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26C478-6E44-4DCE-8F0A-1BAA7EB1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workflow moves from broad discovery to hands-on comparison.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5AAAB2-EB6A-4AD3-BCF0-557C198E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17F24-DFF4-4384-B882-86BA42AC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6193A-5C71-4A20-A2BA-94156F02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7ACC8-9BB2-49A3-8FF4-A01B7F2D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Longlist and health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8DD116-94AB-479A-9089-4BDA9C5B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2228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Candidate tools, project metadata, licenses, release/activity signals, and docs quality.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58443-A9AE-491A-9154-96B87F32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FED532-5AB4-4050-9E11-D64A5F1C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D7879-6156-4D3A-9A80-05793B48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Surface survey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B94FD4-83C5-4299-87B0-713ECD53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57550"/>
            <a:ext cx="2228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CLI, library, REST, file format, schema, database, plugin, and export paths.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062BD-1C2C-450E-87E3-CAC0C395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9075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130E8-88E3-4BA9-AEC9-A7F5768F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633B28-A805-4D05-9471-97B92490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Hands-on 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C9C38-10B7-4E76-8A6D-49D1E8F1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57550"/>
            <a:ext cx="2228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Shared synthetic workflow plus setup, structured output, and failure behavior evidence.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F6B58A-5476-4D20-A4ED-7256FC3E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28323-D8F4-4D65-AC4B-0E6562A8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8E2E9-7787-4F6F-9283-B120EEF8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Prototype choice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D52D8-4315-4D7D-8396-BEADB795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57550"/>
            <a:ext cx="2228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Compare value, feasibility, safety, demo clarity, and honest scope.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3F3A7-669B-43A8-9AD9-6FD69DB4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method favors repeatable local evidence over catalog-style claims.</a:t>
            </a:r>
          </a:p>
        </p:txBody>
      </p:sp>
    </p:spTree>
    <p:extLst>
      <p:ext uri="{BB962C8B-B14F-4D97-AF65-F5344CB8AC3E}">
        <p14:creationId xmlns:p14="http://schemas.microsoft.com/office/powerpoint/2010/main" val="19656661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000227-E83B-46C8-B142-0D19619D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ecosystem is a chain, not one product category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A6646-418D-47F0-B04D-C9D92F89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Each layer exposes different integration surfaces and different risks.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12FCB-6089-45B8-AE94-6C628853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49E28-775A-40C2-B75D-5EB6DC9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215646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397C0C-3FB9-46BE-8FD1-EE6F9A66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527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4061AC-5F6A-41BB-B4D6-A2AA1018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09900"/>
            <a:ext cx="18897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CSV, OFX, QIF, bank-export conversion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F16E1-857B-426C-BFC0-3FBE0CAF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560" y="322897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B13F2-5CDE-4D60-BFED-6F4456C0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8910" y="2381250"/>
            <a:ext cx="215646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5302A-D279-43F5-B9F8-9292AC33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25527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Bookkeeping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09C1F-C229-4928-9E8B-C82074AA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3009900"/>
            <a:ext cx="18897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Transactions, accounts, balances, reports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A9A26-3763-4564-BE5A-BA059219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4420" y="322897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E3C75-8F52-459B-9F4B-2302E60A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7770" y="2381250"/>
            <a:ext cx="215646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D9C486-FDBA-4EF4-95DF-019469B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5527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Tax calculation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1A5F2-DAC2-4524-AF64-4161E159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009900"/>
            <a:ext cx="18897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Liability from summarized facts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1844A-EC19-4E7E-911F-8AAF0DA1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280" y="322897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38203-F99A-4B0D-92F0-C7EC18FA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2381250"/>
            <a:ext cx="215646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FFE3EE-3928-4FD4-82E9-52D22499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980" y="25527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Forms and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F60D8F-D062-4714-978E-3B0169A9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980" y="3009900"/>
            <a:ext cx="18897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Return lines, schemas, PDFs or XML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C34B18-8219-4947-A82A-382EB76E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322897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9DABEE-39FC-46DE-A7C6-CC72D588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5490" y="2381250"/>
            <a:ext cx="215646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CAEB8B-C489-4D4A-AE29-246E2D25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8840" y="25527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Filing references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0C388-2DF6-4FB8-B48F-1F68D07D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8840" y="3009900"/>
            <a:ext cx="18897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Government context, not a public channel here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6EAD4B-E742-48CC-A1AF-DC37F1A6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1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missing layer is connective tissue: validation, normalization, provenance, and honest boundaries.</a:t>
            </a:r>
          </a:p>
        </p:txBody>
      </p:sp>
    </p:spTree>
    <p:extLst>
      <p:ext uri="{BB962C8B-B14F-4D97-AF65-F5344CB8AC3E}">
        <p14:creationId xmlns:p14="http://schemas.microsoft.com/office/powerpoint/2010/main" val="8628941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38D247-E902-4F45-BF15-91C4783C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shortlist deliberately spans five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0BF7F7-95FE-4F5B-8E52-45C34343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evaluated tools cover file, local API, REST, calculation, and form-level paths.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1A1E17-0D36-478E-94F2-C36043F1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99154-C055-4B89-87ED-9435139A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20574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B69EB-4F15-40DE-A6FA-35B749EA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288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hledger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2E146-A398-448F-AA7D-89DCE059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790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File/CLI/JSON accounting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72881A-BCF8-424E-B646-56654EF3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48050"/>
            <a:ext cx="1790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Transparent and low-friction; not a tax engine.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C7906-59AB-47C6-BA44-CA0EDAFD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076450"/>
            <a:ext cx="20574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54184A-A2FF-4C52-B29E-96FD5824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288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Actual 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F6446F-80B5-47CA-A091-726F6523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590800"/>
            <a:ext cx="1790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Local-first app/API and CLI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3C840-5058-40F8-92C9-02F4B930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448050"/>
            <a:ext cx="1790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Good backup; direct-add validation gaps.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EF00F-D943-4DD8-84F3-952D710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76450"/>
            <a:ext cx="20574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F816B-58EF-4AFC-A0D9-00ED2AA8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288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Firefly III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40B410-0263-438F-9AA2-C0D5090B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90800"/>
            <a:ext cx="1790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Self-hosted REST JSON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96C317-625B-44EC-B684-6B4433BA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448050"/>
            <a:ext cx="1790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Strong API; heavier setup and AGPL posture.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E92AB-A7EE-4556-A293-414AAE49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076450"/>
            <a:ext cx="20574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75D51D-98C1-4932-BEAD-F942A179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288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tenforty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DF30EA-1C63-4814-A463-CF26C2C2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590800"/>
            <a:ext cx="1790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Tax-liability library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DA9CC6-2F41-4227-8E8C-2FBFD018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448050"/>
            <a:ext cx="1790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Needs summarized inputs; no transaction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F3BEE1-1DCA-4431-BB39-8AE71C17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076450"/>
            <a:ext cx="205740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928738-A053-4E3A-BE5E-6D679595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288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7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Filed Open Tax Engine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AC8A8C-FB7D-4667-B3C9-91D41876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90800"/>
            <a:ext cx="1790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Form-level federal engine path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74ECFF-8ED2-4575-A12A-6364B72D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48050"/>
            <a:ext cx="1790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Highest form upside; maturity and validation caution.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C4B54C-FC40-4DE1-85D9-EA9CD794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1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shortlist is balanced around integration surfaces, not around a single expected winner.</a:t>
            </a:r>
          </a:p>
        </p:txBody>
      </p:sp>
    </p:spTree>
    <p:extLst>
      <p:ext uri="{BB962C8B-B14F-4D97-AF65-F5344CB8AC3E}">
        <p14:creationId xmlns:p14="http://schemas.microsoft.com/office/powerpoint/2010/main" val="17309985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564E95-F247-4572-8CA6-06DC8ACF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synthetic scenario makes tests comparable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D504A-B781-4DC8-BA07-6F0C120F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same facts travel through very different tool surfaces.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48502-4375-4B92-B239-D52A188C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F9CC32-2F74-4764-A6BA-C3222FCF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09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75C93-9437-4993-B751-07D20598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844386-8AA4-465F-A3BF-28E17910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289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baseline transactions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3CDD9-46E0-4CF3-AC76-57D600DF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95500"/>
            <a:ext cx="2762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20F9A-E7A7-4F18-AB73-2C52D76B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66950"/>
            <a:ext cx="2419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$8,964.77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2E379-9C25-46DE-A1CF-736B0F0E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28950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expected checking balance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A3263-406D-4EA4-8490-FCB1A806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095500"/>
            <a:ext cx="2762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04708A-1E6F-4E67-BA80-8FD61F45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66950"/>
            <a:ext cx="2419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$9,107.02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7FE739-DE63-4321-B2FD-DDA19C4F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28950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Schedule C-style net before mileage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0A9D9-2400-4CC1-B4DC-2B422DFE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95500"/>
            <a:ext cx="25336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0F132B-45C2-4B3A-99A2-C2F4E7D5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TADD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CF64C3-7881-497D-BCE7-02865C14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289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5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standard added software expense changes checking to $8,939.78</a:t>
            </a:r>
          </a:p>
        </p:txBody>
      </p:sp>
      <p:graphicFrame>
        <p:nvGraphicFramePr>
          <p:cNvPr id="32" name=""/>
          <p:cNvGraphicFramePr/>
          <p:nvPr/>
        </p:nvGraphicFramePr>
        <p:xfrm>
          <a:off xmlns:a="http://schemas.openxmlformats.org/drawingml/2006/main" x="400050" y="4171950"/>
          <a:ext xmlns:a="http://schemas.openxmlformats.org/drawingml/2006/main" cx="11391900" cy="1524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5695950"/>
                <a:gridCol w="5695950"/>
              </a:tblGrid>
              <a:tr h="3810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Fact type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Synthetic example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3810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Freelance design and consulting payments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Expenses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Software, office equipment, supplies, travel, fees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Tax-adjacent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Interest, charity placeholders, estimated payments, mileage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1959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B03393-725D-469C-8263-77292747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hledger is the clearest bookkeeping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DF105-4AF8-4461-90EE-76FA61CE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main tradeoff is setup and transparency versus app/server features.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28222C-3A35-430A-88FB-6BFA09A7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00050" y="2076450"/>
          <a:ext xmlns:a="http://schemas.openxmlformats.org/drawingml/2006/main" cx="1139190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47975"/>
                <a:gridCol w="2847975"/>
                <a:gridCol w="2847975"/>
                <a:gridCol w="2847975"/>
              </a:tblGrid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Tool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Primary surface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Strength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Caution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hledger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CLI, CSV rules, 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Lowest setup and transparent files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Wrapper must reject unknown accounts and duplicate IDs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Actual Budget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Node API and CLI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Best local app/API backup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tax forms; direct-add validation gaps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Firefly III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REST JSON API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Strongest REST comparator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Docker, auth, state, and AGPL overhead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FD4DC-4602-48AB-8ECC-BE1B28FE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673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All three can model transactions and balances. None is a tax-preparation engine.</a:t>
            </a:r>
          </a:p>
        </p:txBody>
      </p:sp>
    </p:spTree>
    <p:extLst>
      <p:ext uri="{BB962C8B-B14F-4D97-AF65-F5344CB8AC3E}">
        <p14:creationId xmlns:p14="http://schemas.microsoft.com/office/powerpoint/2010/main" val="2129152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75C102-1C05-4298-9D03-856E6DA7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Tax-specific tools are downstream components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FE9BF9-4CB8-4550-8BE4-2FCD863A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They add calculation or form detail after facts are already summarized.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7A8AE-5565-4E9A-943D-BFB5B445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75C9C-258D-458B-BD70-148D5E35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5143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FA048-0CEF-4332-ACA6-BECE11D1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9B5FFF-CD03-4ABF-AF78-6579F9EC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tenforty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B98C2-C525-446D-BBF4-AD0B16F8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24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Best compact tax-liability component. It accepts summarized tax facts, but it does not import transactions, manage accounts, model estimated payments/refunds, create PDFs, or file.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2EA3C5-AD0D-4D55-925B-E791BAED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90750"/>
            <a:ext cx="5143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EBE61F-85F5-497E-AF12-E1ABAFD3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622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Filed Open Tax Engine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03668E-08B5-4728-8A56-68F04A34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4724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Richest form-level candidate. It produced tested 1040/Schedule C-style outputs, but maturity, validation/export behavior, duplicate/date acceptance, and licensing require caution.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40B6E8-B582-46B2-A8B5-B25B5004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Both tools make more sense after a bookkeeping fact layer has already done validation and summarization.</a:t>
            </a:r>
          </a:p>
        </p:txBody>
      </p:sp>
    </p:spTree>
    <p:extLst>
      <p:ext uri="{BB962C8B-B14F-4D97-AF65-F5344CB8AC3E}">
        <p14:creationId xmlns:p14="http://schemas.microsoft.com/office/powerpoint/2010/main" val="20452806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187A4A-CD20-4058-AECE-12AFCDD1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evaluated tool forms a complete filing stack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7A613-54C5-4115-9540-8E9C8F12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Each capability step narrows the tools that can support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BBEF9-6B18-498A-9631-F9B5E619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856916-1123-4694-88CF-3507AE9E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4668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B7361-138B-4A2C-AA1F-371B1291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133C9-5C59-4B91-8DA4-2BB3BD71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23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hledger, Actual, Firefly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5726B2-BA1A-41D6-B336-3CE14368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552700"/>
            <a:ext cx="14668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06314-7F94-4979-B5A7-28423259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Balances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85732-6728-4C85-B612-200ED794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43250"/>
            <a:ext cx="123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hledger, Actual, Firefly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58561-08FA-44C0-A451-3B0CF213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24150"/>
            <a:ext cx="14668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7AB71-43F8-441D-B281-38CC80FE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Tax summaries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DC5C08-3AAF-4600-8D7A-F97F7031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14700"/>
            <a:ext cx="123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wrapper mapping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99002-4BAC-4AC5-8CD4-DDF947F6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895600"/>
            <a:ext cx="14668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024AD0-6873-4E05-927D-5D530D76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670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Tax liability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80ED7-ED65-4D9E-A465-688CDFF2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86150"/>
            <a:ext cx="123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tenforty, Filed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931F8-2CE9-448A-B8E2-ACA26C3B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67050"/>
            <a:ext cx="14668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C5C093-9D37-4510-BB67-8A78F538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385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Form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F2315F-2EA4-476D-A81F-748A856F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57600"/>
            <a:ext cx="123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Filed strongest tested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DE02A4-F850-416B-A91B-BCEB6E23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38500"/>
            <a:ext cx="14668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0FAD79-BD4B-426C-ABEC-1672D981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099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1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Validation-clean filing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A795BF-5765-426E-81D1-430C0675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29050"/>
            <a:ext cx="123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not proven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84798E-0010-40F2-BD60-B22AFB33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409950"/>
            <a:ext cx="14668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DE8C57-1D71-40FA-B239-636D3198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5814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5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E-file submission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C4B3CD-7E38-45FF-B1AE-516BE187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00500"/>
            <a:ext cx="123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not supported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249FF9-747C-4B77-B768-F81EEC27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0439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3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practical gap is not data storage. It is validated, traceable facts that can cross tool boundaries.</a:t>
            </a:r>
          </a:p>
        </p:txBody>
      </p:sp>
    </p:spTree>
    <p:extLst>
      <p:ext uri="{BB962C8B-B14F-4D97-AF65-F5344CB8AC3E}">
        <p14:creationId xmlns:p14="http://schemas.microsoft.com/office/powerpoint/2010/main" val="6558580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ADE731-86B8-4CC2-9CD5-9333CC2C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tool earns a different 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EE1C3-34C5-4D72-B514-3AAE333F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right answer depends on the integration job.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729D2-9648-4096-95C1-A7B9D808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1143000" y="2000250"/>
          <a:ext xmlns:a="http://schemas.openxmlformats.org/drawingml/2006/main" cx="990600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4953000"/>
                <a:gridCol w="4953000"/>
              </a:tblGrid>
              <a:tr h="449036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 case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Recommended role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449036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Transparent bookkeeping and reportable facts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hledger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Local app/API integration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Actual Budget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REST API comparison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Firefly III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Tax-liability scenarios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tenforty after summaries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Form-level experimentation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Filed Open Tax Engine, cautiously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9036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Production filing or live taxpayer automation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75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 not claim support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F1FDD4-5231-4FD7-9EF3-731AB81A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recommendation is layered, not winner-take-all.</a:t>
            </a:r>
          </a:p>
        </p:txBody>
      </p:sp>
    </p:spTree>
    <p:extLst>
      <p:ext uri="{BB962C8B-B14F-4D97-AF65-F5344CB8AC3E}">
        <p14:creationId xmlns:p14="http://schemas.microsoft.com/office/powerpoint/2010/main" val="6067066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F99132-5A51-45B7-9667-A0CD74DE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prototype tests the fact-layer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C855C-AD95-4158-B369-B1D49B0D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It proves a small, guarded integration can produce trustworthy summaries.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CFB137-E390-4123-AC7F-453F8ED8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26D51-2170-492F-9874-34C00C32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541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DEE8F-180C-4DCD-94F5-A0450F5D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76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B1E1D-6DD4-4C93-B3E9-B5BAC933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Prototype claim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2F183-3D7D-4878-9E5C-C4E1BA06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991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 thin wrapper can validate controlled synthetic transactions, run read-only hledger reports, reconcile output, and emit normalized JSON.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1C180-5BAC-4109-8225-08DC4FE8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541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544088-7ABB-42BB-859B-0A58AD24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62200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is not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ADAD6-5CCB-43ED-A25D-4BE52441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43200"/>
            <a:ext cx="4991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It does not calculate tax liability, decide deductibility, generate forms, estimate refunds, validate returns, or submit anything.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E4494A-D99E-428A-9149-790B3157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1019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demo is evidence for integration infrastructure, not tax preparation.</a:t>
            </a:r>
          </a:p>
        </p:txBody>
      </p:sp>
    </p:spTree>
    <p:extLst>
      <p:ext uri="{BB962C8B-B14F-4D97-AF65-F5344CB8AC3E}">
        <p14:creationId xmlns:p14="http://schemas.microsoft.com/office/powerpoint/2010/main" val="1776914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A4D92C-3F05-40EA-8327-92D62C8C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adapter normalizes synthetic records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47E2D-94EC-4DA1-A198-FD2D318E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Validation and reconciliation sit around hledger, not inside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4DE49-EE15-4DAE-BEE0-BFB98AED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398F9-6AEF-4C9D-A1DB-5846F4D4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43150"/>
            <a:ext cx="215646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22EC4D-30A8-44C2-B76A-07527B75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Synthetic inputs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B9E01-01F4-45CA-A18E-28276728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88976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CSV, context file, category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E1F23-379B-4E80-BA06-381C4E25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560" y="32480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14EF3E-1361-4C53-93DA-2053CE6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8910" y="2343150"/>
            <a:ext cx="215646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93932-B348-428E-B201-ED78DE0E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25146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Wrapper preflight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92CB7-473C-43E2-80EF-B69A6D5C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60" y="2971800"/>
            <a:ext cx="188976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Dates, amounts, signs, IDs, accounts, categories, tax hints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9307C-4363-4638-AA92-83321832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4420" y="32480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A0AB07-3B28-483E-950B-556928C5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7770" y="2343150"/>
            <a:ext cx="215646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2D686-4D44-420F-9425-EA7B954F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5146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hledger reports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A67B89-4B8A-4560-AF19-C0A4930D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971800"/>
            <a:ext cx="188976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Read-only print, balance, income statement 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8B177-7D4C-407A-AB22-F4B620F8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280" y="32480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9B72A3-0AFE-40C9-8E8F-F837DB8E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2343150"/>
            <a:ext cx="215646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ED5CD-3E78-436D-8DDC-91EB8A88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980" y="25146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Reconciliation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44BFC-8264-42D1-B27E-01F9BAC7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980" y="2971800"/>
            <a:ext cx="188976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Check postings, balances, accounts, and source amounts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E76FDB-5A1D-408E-B47C-071AEB5F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32480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5D431-A1E3-4EBC-B9C7-36C108F4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5490" y="2343150"/>
            <a:ext cx="215646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B5973E-A25B-46A3-8D2F-CFE9E696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8840" y="2514600"/>
            <a:ext cx="1889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JSON facts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2C3773-A789-44D5-9760-E441C676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8840" y="2971800"/>
            <a:ext cx="188976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Balances, Schedule C-style summary, warnings, provenance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A89852-08FE-4758-BCA7-F0B1C5A9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Scratch-copy execution and shell=False keep the demo local and controlled.</a:t>
            </a:r>
          </a:p>
        </p:txBody>
      </p:sp>
    </p:spTree>
    <p:extLst>
      <p:ext uri="{BB962C8B-B14F-4D97-AF65-F5344CB8AC3E}">
        <p14:creationId xmlns:p14="http://schemas.microsoft.com/office/powerpoint/2010/main" val="17783128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D62446-9999-405D-B6DE-9FE2AFD1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demo can run live or replay verified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58CE0-9872-435D-910A-EDE9AF99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same reviewer story works with or without a local hledger binary.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490C4-0B48-430B-A516-F58A448F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6CFFB-0B2A-4E82-A243-37FF4B69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5334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CFED8D-C5A5-4A58-B008-18FA9555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Live path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B745A-ED43-46E8-8D70-05AC55FD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python run_day20_demo.py --json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CF2A9-B891-4353-963D-C4689A83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66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Runs the synthetic adapter demo and the safety failure matrix from the repository root.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32768-6D9D-434A-AAF4-668AFFF4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0750"/>
            <a:ext cx="5334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0C306-2ED0-4D0C-BA0F-C7ED2F28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Replay 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47E64-742B-4677-9299-8EF61478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099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Committed command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BCD709-75D7-4C0B-A488-8E1F852E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19500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execution lab can animate verified command evidence when the deployed environment cannot run hledger.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014AB-E615-4A8D-A0F8-6A8E0EAB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911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Narrate validation, hledger discovery, report execution, reconciliation, summary aggregation, failure matrix, and cleanup.</a:t>
            </a:r>
          </a:p>
        </p:txBody>
      </p:sp>
    </p:spTree>
    <p:extLst>
      <p:ext uri="{BB962C8B-B14F-4D97-AF65-F5344CB8AC3E}">
        <p14:creationId xmlns:p14="http://schemas.microsoft.com/office/powerpoint/2010/main" val="2636733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98F6D7-8EFC-4B2E-8B89-A4E06CA8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current demo run passes and produces inspectable facts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5DC4FC-2E67-4637-B2E0-299669CE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output is useful because it is structured and bounded.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07BC1-178B-4C9E-A88D-AC3E8B0B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9F1AC-3F62-4AAC-BA15-56151752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FD762-8C9C-496C-8422-C00972A0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1700"/>
            <a:ext cx="1276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E1CD7A-AF40-42ED-ACC5-9D0EDA1B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1276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9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transactions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16E5C3-30F9-4CD6-9904-56CB698F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002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5558D-0EA8-4839-9AF3-E64E11F6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71700"/>
            <a:ext cx="1276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C0EA28-0142-421C-B332-7BE9C264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33700"/>
            <a:ext cx="1276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9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postings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71C6A-537C-4A77-B238-ADCA35FC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0002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DF1A39-D025-4DC5-AB8E-60F9122B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71700"/>
            <a:ext cx="1276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507F7-7194-4BEA-8192-A83B02BE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33700"/>
            <a:ext cx="1276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9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accounts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E3C95-EA9E-44FB-9579-2EB5DCC9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00025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B4B25-EBBD-44D4-9718-50CA1064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71700"/>
            <a:ext cx="1847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9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$8,964.77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0FA58-F36D-4511-95C2-8E4E4B36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33700"/>
            <a:ext cx="1847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9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checking balance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91E775-BC3A-4503-AD6B-F278E858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002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507F96-0943-4F38-A2DC-F546FF1B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71700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15/15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C80C2-9F74-49F9-8EBF-7866F066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33700"/>
            <a:ext cx="1752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9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failure matrix passed</a:t>
            </a:r>
          </a:p>
        </p:txBody>
      </p:sp>
      <p:graphicFrame>
        <p:nvGraphicFramePr>
          <p:cNvPr id="38" name=""/>
          <p:cNvGraphicFramePr/>
          <p:nvPr/>
        </p:nvGraphicFramePr>
        <p:xfrm>
          <a:off xmlns:a="http://schemas.openxmlformats.org/drawingml/2006/main" x="400050" y="3848100"/>
          <a:ext xmlns:a="http://schemas.openxmlformats.org/drawingml/2006/main" cx="11391900" cy="16764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5695950"/>
                <a:gridCol w="5695950"/>
              </a:tblGrid>
              <a:tr h="33528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Summary field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local run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33528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Bookkeeping revenue / expenses / net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$10,327.75 / $1,512.98 / $8,814.77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Schedule C-style net before mileage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$9,107.02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Interest / charity / estimated payments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$77.75 / $370.00 / $1,050.00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hledger 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0">
                          <a:solidFill>
                            <a:srgbClr val="5555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1.52.1, Windows x86_64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27349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0C889A-E3C6-480B-A690-E6F25C9D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recommended path starts with bookkeeping facts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C7B75-594B-401F-BC5B-5B65A746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Tax calculation and form engines become safer after validation.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214B3-8A68-48B7-88F5-3021D477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AD16E-2F96-4584-832D-2CED25E1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2571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4C022-28A1-4096-9E9D-91014F34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B69A4-3F8B-4042-869A-863737D8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hledger first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4E2B8-F41C-4FF0-AE6E-8BB483BD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22288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Prototype-backed pattern for transparent bookkeeping and reportable facts.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E23C6-3B94-4CFE-8F31-49D4885E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2571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9AB0A-280D-44B8-AEDD-02BBD893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9EE67-1B7B-459F-9D21-103F1C02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app/API backups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7CAC4-D437-46EC-A8D3-F189B56E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57550"/>
            <a:ext cx="22288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Actual for local app/API work; Firefly III for REST comparison.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F38409-94D9-43FB-8703-86381875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90750"/>
            <a:ext cx="2571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9AE1F-EF38-4A76-9C68-9D4259EC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91769-A57C-41DB-8880-9F60F6C9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Add tax components later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1D302-1412-4085-9D1C-911753C2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57550"/>
            <a:ext cx="22288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Pair summaries with tenforty; revisit Filed for cautious form-level experiments.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3A7A7C-4C58-4089-84EE-4E9A9862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571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11EE2-C83D-421B-9A8D-D6AB3259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622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7E4EF3-3A50-4FB3-8315-83F3A159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not overclaim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7D834-3920-47E4-8FFF-970670F7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57550"/>
            <a:ext cx="22288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production filing, tax advice, live taxpayer automation, or e-file support.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D6473-1973-4416-8EE9-C15CBEB5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5780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near-term win is trustworthy structured facts, not an automatic filing bot.</a:t>
            </a:r>
          </a:p>
        </p:txBody>
      </p:sp>
    </p:spTree>
    <p:extLst>
      <p:ext uri="{BB962C8B-B14F-4D97-AF65-F5344CB8AC3E}">
        <p14:creationId xmlns:p14="http://schemas.microsoft.com/office/powerpoint/2010/main" val="157708509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CE982-B31F-4207-A649-C30F29D6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remaining work is clear and bounded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F493B7-3AA8-486C-8870-5E55E455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Publication polish should refresh evidence and expand scenarios without changing the claim.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5FC4A-80E9-4A28-A65F-98B653F3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0FDFA-32CD-4419-97D1-1969869D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LIMITS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F139D-9BE3-4128-8479-8F1CFFB4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95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NEXT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41F13-8BAB-431F-A5C4-F6B54BC3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4953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D43A9-DF3E-48AE-8EAF-9E946648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Synthetic-only snapshot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7E226-18AD-4064-9C64-08F5B58E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4533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One controlled 2025 freelancer fixture; public release and health metadata should be refreshed before final publication.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DFD06-37E8-4838-BCD2-32E47335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4953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E8BF6-B372-401B-9008-7D2E94BC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Legal and tax caveats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ACB0-3433-44FB-B425-49676A4A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4533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License analysis is directional, and the prototype makes no tax-treatment or filing-readiness claims.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A61DD-5ED4-4845-8D07-ADA929B6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76500"/>
            <a:ext cx="4953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95797-BA50-4AEC-830B-55E51351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7650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BA6538-E65F-433A-ABF5-E536781F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795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Second-stage integrations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8250CF-4065-4527-B129-F5A65D8D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28950"/>
            <a:ext cx="4533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Pair hledger summaries with tenforty and revisit Filed validation/export behavior after more review.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118A75-ECF1-4141-8288-4994B292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24350"/>
            <a:ext cx="4953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CA0AD6-4A07-490F-85FA-8844BF3E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Stronger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DC8A9-4ED4-4B05-A6A5-8F5D6DA2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76800"/>
            <a:ext cx="4533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Add execution-lab screenshots, expand synthetic datasets, and analyze GPL/AGPL deployment implications.</a:t>
            </a:r>
          </a:p>
        </p:txBody>
      </p:sp>
    </p:spTree>
    <p:extLst>
      <p:ext uri="{BB962C8B-B14F-4D97-AF65-F5344CB8AC3E}">
        <p14:creationId xmlns:p14="http://schemas.microsoft.com/office/powerpoint/2010/main" val="4744856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B79BEC-5542-4849-AF92-2B04F8FE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project proves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5E20A6-A901-464E-B27B-C086C2FA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9060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fragmented open-source ecosystem can still support useful integration when the boundary is honest and the facts are validated.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E0A81-DBE5-4C01-8680-ECEF01AB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23749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D01229-D4FA-490F-B879-00CCFA42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210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Mapped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400DC-F6F3-4D4B-90DC-C7806F6E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2108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Landscape by integration role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24EDE-F708-425F-AA28-E75125E9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000" y="4738688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43A85-0C40-4FFE-9791-50325028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350" y="4095750"/>
            <a:ext cx="23749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B2974-4065-4015-AB69-A57DF6A3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700" y="4267200"/>
            <a:ext cx="210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Evaluated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06341-2B4C-4C7B-AA8C-511879D0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700" y="4724400"/>
            <a:ext cx="2108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Five tools on shared synthetic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5202ED-F809-4EAA-8C00-4D96DC8E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300" y="4738688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9CDA6F-8E0E-4EEA-9AD5-B9164916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4650" y="4095750"/>
            <a:ext cx="23749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186C3B-B3B6-4CA2-978E-1DF90E02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4267200"/>
            <a:ext cx="210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Built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805FD-AA13-4136-B265-7F63AF4B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4724400"/>
            <a:ext cx="2108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hledger adapter with guarded JSON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1644E-4DCB-4AFF-B06D-91F87FA7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386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python run_day20_demo.py --json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1F7BBC-7AF7-4C42-AB8C-9F94CF62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230908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2026-07-20T01:59:34.8440000Z</dcterms:created>
  <dcterms:modified xsi:type="dcterms:W3CDTF">2026-07-20T01:59:34.8440000Z</dcterms:modified>
</coreProperties>
</file>